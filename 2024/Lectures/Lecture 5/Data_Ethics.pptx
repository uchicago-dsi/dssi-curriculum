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438" r:id="rId3"/>
    <p:sldId id="483" r:id="rId4"/>
    <p:sldId id="331" r:id="rId5"/>
    <p:sldId id="447" r:id="rId6"/>
    <p:sldId id="448" r:id="rId7"/>
    <p:sldId id="467" r:id="rId8"/>
    <p:sldId id="484" r:id="rId9"/>
    <p:sldId id="485" r:id="rId10"/>
    <p:sldId id="486" r:id="rId11"/>
    <p:sldId id="487" r:id="rId12"/>
    <p:sldId id="488" r:id="rId13"/>
    <p:sldId id="439" r:id="rId14"/>
    <p:sldId id="489" r:id="rId15"/>
    <p:sldId id="445" r:id="rId16"/>
    <p:sldId id="457" r:id="rId17"/>
    <p:sldId id="458" r:id="rId18"/>
    <p:sldId id="441" r:id="rId19"/>
    <p:sldId id="490" r:id="rId20"/>
    <p:sldId id="456" r:id="rId21"/>
    <p:sldId id="460" r:id="rId22"/>
    <p:sldId id="464" r:id="rId23"/>
    <p:sldId id="462" r:id="rId24"/>
    <p:sldId id="474" r:id="rId25"/>
    <p:sldId id="480" r:id="rId26"/>
    <p:sldId id="481" r:id="rId27"/>
    <p:sldId id="482" r:id="rId28"/>
    <p:sldId id="442" r:id="rId29"/>
    <p:sldId id="285" r:id="rId30"/>
    <p:sldId id="298" r:id="rId31"/>
    <p:sldId id="468" r:id="rId32"/>
    <p:sldId id="472" r:id="rId33"/>
    <p:sldId id="452" r:id="rId34"/>
    <p:sldId id="449" r:id="rId35"/>
    <p:sldId id="454" r:id="rId36"/>
    <p:sldId id="455" r:id="rId37"/>
    <p:sldId id="453" r:id="rId38"/>
    <p:sldId id="491" r:id="rId39"/>
    <p:sldId id="47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11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178"/>
    <p:restoredTop sz="94669"/>
  </p:normalViewPr>
  <p:slideViewPr>
    <p:cSldViewPr snapToGrid="0">
      <p:cViewPr varScale="1">
        <p:scale>
          <a:sx n="98" d="100"/>
          <a:sy n="98" d="100"/>
        </p:scale>
        <p:origin x="208"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F8599C-67A1-DA4C-A3F4-1780A6F2142C}" type="datetimeFigureOut">
              <a:rPr lang="en-US" smtClean="0"/>
              <a:t>6/5/24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4C2B8B-84E5-974F-83AB-67C8401FFEC4}" type="slidenum">
              <a:rPr lang="en-US" smtClean="0"/>
              <a:t>‹#›</a:t>
            </a:fld>
            <a:endParaRPr lang="en-US"/>
          </a:p>
        </p:txBody>
      </p:sp>
    </p:spTree>
    <p:extLst>
      <p:ext uri="{BB962C8B-B14F-4D97-AF65-F5344CB8AC3E}">
        <p14:creationId xmlns:p14="http://schemas.microsoft.com/office/powerpoint/2010/main" val="2160203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B26AA-CE0E-D9EC-0414-E82ECCBE37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E8E949-E01C-A948-C2C6-A4D0987E5B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DD0A88-53ED-8893-0FBC-2BC0BFEF4092}"/>
              </a:ext>
            </a:extLst>
          </p:cNvPr>
          <p:cNvSpPr>
            <a:spLocks noGrp="1"/>
          </p:cNvSpPr>
          <p:nvPr>
            <p:ph type="dt" sz="half" idx="10"/>
          </p:nvPr>
        </p:nvSpPr>
        <p:spPr/>
        <p:txBody>
          <a:bodyPr/>
          <a:lstStyle/>
          <a:p>
            <a:fld id="{75F6D810-F5EF-914D-9205-F52239C9A9C9}" type="datetimeFigureOut">
              <a:rPr lang="en-US" smtClean="0"/>
              <a:t>6/5/24</a:t>
            </a:fld>
            <a:endParaRPr lang="en-US"/>
          </a:p>
        </p:txBody>
      </p:sp>
      <p:sp>
        <p:nvSpPr>
          <p:cNvPr id="5" name="Footer Placeholder 4">
            <a:extLst>
              <a:ext uri="{FF2B5EF4-FFF2-40B4-BE49-F238E27FC236}">
                <a16:creationId xmlns:a16="http://schemas.microsoft.com/office/drawing/2014/main" id="{0D87C6EA-8352-4086-09BD-E5EE93B534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F631A0-A90E-5D51-3CC8-E1921AA497E4}"/>
              </a:ext>
            </a:extLst>
          </p:cNvPr>
          <p:cNvSpPr>
            <a:spLocks noGrp="1"/>
          </p:cNvSpPr>
          <p:nvPr>
            <p:ph type="sldNum" sz="quarter" idx="12"/>
          </p:nvPr>
        </p:nvSpPr>
        <p:spPr/>
        <p:txBody>
          <a:bodyPr/>
          <a:lstStyle/>
          <a:p>
            <a:fld id="{FB625D89-1861-EC49-BB2E-9F095F60606E}" type="slidenum">
              <a:rPr lang="en-US" smtClean="0"/>
              <a:t>‹#›</a:t>
            </a:fld>
            <a:endParaRPr lang="en-US"/>
          </a:p>
        </p:txBody>
      </p:sp>
    </p:spTree>
    <p:extLst>
      <p:ext uri="{BB962C8B-B14F-4D97-AF65-F5344CB8AC3E}">
        <p14:creationId xmlns:p14="http://schemas.microsoft.com/office/powerpoint/2010/main" val="2241481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3F39-B957-CD85-E099-87B3E6B928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6E2D76-1A6A-CD81-A921-9ADCDB0AD5B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FAEC9D-1E4B-755D-167E-361A991818F4}"/>
              </a:ext>
            </a:extLst>
          </p:cNvPr>
          <p:cNvSpPr>
            <a:spLocks noGrp="1"/>
          </p:cNvSpPr>
          <p:nvPr>
            <p:ph type="dt" sz="half" idx="10"/>
          </p:nvPr>
        </p:nvSpPr>
        <p:spPr/>
        <p:txBody>
          <a:bodyPr/>
          <a:lstStyle/>
          <a:p>
            <a:fld id="{75F6D810-F5EF-914D-9205-F52239C9A9C9}" type="datetimeFigureOut">
              <a:rPr lang="en-US" smtClean="0"/>
              <a:t>6/5/24</a:t>
            </a:fld>
            <a:endParaRPr lang="en-US"/>
          </a:p>
        </p:txBody>
      </p:sp>
      <p:sp>
        <p:nvSpPr>
          <p:cNvPr id="5" name="Footer Placeholder 4">
            <a:extLst>
              <a:ext uri="{FF2B5EF4-FFF2-40B4-BE49-F238E27FC236}">
                <a16:creationId xmlns:a16="http://schemas.microsoft.com/office/drawing/2014/main" id="{4EBF367C-0958-2BBB-DAA9-BB06C3EB7F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E04286-D14C-DA8E-FC7F-E9D8224AAAE7}"/>
              </a:ext>
            </a:extLst>
          </p:cNvPr>
          <p:cNvSpPr>
            <a:spLocks noGrp="1"/>
          </p:cNvSpPr>
          <p:nvPr>
            <p:ph type="sldNum" sz="quarter" idx="12"/>
          </p:nvPr>
        </p:nvSpPr>
        <p:spPr/>
        <p:txBody>
          <a:bodyPr/>
          <a:lstStyle/>
          <a:p>
            <a:fld id="{FB625D89-1861-EC49-BB2E-9F095F60606E}" type="slidenum">
              <a:rPr lang="en-US" smtClean="0"/>
              <a:t>‹#›</a:t>
            </a:fld>
            <a:endParaRPr lang="en-US"/>
          </a:p>
        </p:txBody>
      </p:sp>
    </p:spTree>
    <p:extLst>
      <p:ext uri="{BB962C8B-B14F-4D97-AF65-F5344CB8AC3E}">
        <p14:creationId xmlns:p14="http://schemas.microsoft.com/office/powerpoint/2010/main" val="3966143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0080-CF2A-800F-8B0D-67FED0161B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6E94E9-EBA9-90D3-B609-7C69E2F07E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3D56D7-AFC1-16DC-037F-FB52CD1C8659}"/>
              </a:ext>
            </a:extLst>
          </p:cNvPr>
          <p:cNvSpPr>
            <a:spLocks noGrp="1"/>
          </p:cNvSpPr>
          <p:nvPr>
            <p:ph type="dt" sz="half" idx="10"/>
          </p:nvPr>
        </p:nvSpPr>
        <p:spPr/>
        <p:txBody>
          <a:bodyPr/>
          <a:lstStyle/>
          <a:p>
            <a:fld id="{75F6D810-F5EF-914D-9205-F52239C9A9C9}" type="datetimeFigureOut">
              <a:rPr lang="en-US" smtClean="0"/>
              <a:t>6/5/24</a:t>
            </a:fld>
            <a:endParaRPr lang="en-US"/>
          </a:p>
        </p:txBody>
      </p:sp>
      <p:sp>
        <p:nvSpPr>
          <p:cNvPr id="5" name="Footer Placeholder 4">
            <a:extLst>
              <a:ext uri="{FF2B5EF4-FFF2-40B4-BE49-F238E27FC236}">
                <a16:creationId xmlns:a16="http://schemas.microsoft.com/office/drawing/2014/main" id="{71B83FFE-279F-5F60-A621-C379B35CF1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06CE90-9D2B-3BD0-C29F-EC95B66CA767}"/>
              </a:ext>
            </a:extLst>
          </p:cNvPr>
          <p:cNvSpPr>
            <a:spLocks noGrp="1"/>
          </p:cNvSpPr>
          <p:nvPr>
            <p:ph type="sldNum" sz="quarter" idx="12"/>
          </p:nvPr>
        </p:nvSpPr>
        <p:spPr/>
        <p:txBody>
          <a:bodyPr/>
          <a:lstStyle/>
          <a:p>
            <a:fld id="{FB625D89-1861-EC49-BB2E-9F095F60606E}" type="slidenum">
              <a:rPr lang="en-US" smtClean="0"/>
              <a:t>‹#›</a:t>
            </a:fld>
            <a:endParaRPr lang="en-US"/>
          </a:p>
        </p:txBody>
      </p:sp>
    </p:spTree>
    <p:extLst>
      <p:ext uri="{BB962C8B-B14F-4D97-AF65-F5344CB8AC3E}">
        <p14:creationId xmlns:p14="http://schemas.microsoft.com/office/powerpoint/2010/main" val="2332576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D4ADF-004F-04A3-49D5-78233C1055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B2525A-B4A0-AFBD-A7B9-3908B6D8E4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137E12-ECB1-8399-1852-B52710027DB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A4B751-7E83-641F-BEF4-171EF8DF94FC}"/>
              </a:ext>
            </a:extLst>
          </p:cNvPr>
          <p:cNvSpPr>
            <a:spLocks noGrp="1"/>
          </p:cNvSpPr>
          <p:nvPr>
            <p:ph type="dt" sz="half" idx="10"/>
          </p:nvPr>
        </p:nvSpPr>
        <p:spPr/>
        <p:txBody>
          <a:bodyPr/>
          <a:lstStyle/>
          <a:p>
            <a:fld id="{75F6D810-F5EF-914D-9205-F52239C9A9C9}" type="datetimeFigureOut">
              <a:rPr lang="en-US" smtClean="0"/>
              <a:t>6/5/24</a:t>
            </a:fld>
            <a:endParaRPr lang="en-US"/>
          </a:p>
        </p:txBody>
      </p:sp>
      <p:sp>
        <p:nvSpPr>
          <p:cNvPr id="6" name="Footer Placeholder 5">
            <a:extLst>
              <a:ext uri="{FF2B5EF4-FFF2-40B4-BE49-F238E27FC236}">
                <a16:creationId xmlns:a16="http://schemas.microsoft.com/office/drawing/2014/main" id="{F1342ACF-92F1-CC71-590F-5E66D14031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CD362E-CA04-A3BB-31E1-734D3B4417F1}"/>
              </a:ext>
            </a:extLst>
          </p:cNvPr>
          <p:cNvSpPr>
            <a:spLocks noGrp="1"/>
          </p:cNvSpPr>
          <p:nvPr>
            <p:ph type="sldNum" sz="quarter" idx="12"/>
          </p:nvPr>
        </p:nvSpPr>
        <p:spPr/>
        <p:txBody>
          <a:bodyPr/>
          <a:lstStyle/>
          <a:p>
            <a:fld id="{FB625D89-1861-EC49-BB2E-9F095F60606E}" type="slidenum">
              <a:rPr lang="en-US" smtClean="0"/>
              <a:t>‹#›</a:t>
            </a:fld>
            <a:endParaRPr lang="en-US"/>
          </a:p>
        </p:txBody>
      </p:sp>
    </p:spTree>
    <p:extLst>
      <p:ext uri="{BB962C8B-B14F-4D97-AF65-F5344CB8AC3E}">
        <p14:creationId xmlns:p14="http://schemas.microsoft.com/office/powerpoint/2010/main" val="1388864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B0149-3A39-B7BC-0BD2-78B1FEA720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A5993D-F46F-FBDE-ECF0-1A892E4779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DD8701-3EE1-7AF7-AF39-861B591378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414BAD8-4520-679A-3922-B93B5F2089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C02741E-CD06-B358-D689-99C3D5DF92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52389B-BD6D-BB57-3C78-034B64F2572D}"/>
              </a:ext>
            </a:extLst>
          </p:cNvPr>
          <p:cNvSpPr>
            <a:spLocks noGrp="1"/>
          </p:cNvSpPr>
          <p:nvPr>
            <p:ph type="dt" sz="half" idx="10"/>
          </p:nvPr>
        </p:nvSpPr>
        <p:spPr/>
        <p:txBody>
          <a:bodyPr/>
          <a:lstStyle/>
          <a:p>
            <a:fld id="{75F6D810-F5EF-914D-9205-F52239C9A9C9}" type="datetimeFigureOut">
              <a:rPr lang="en-US" smtClean="0"/>
              <a:t>6/5/24</a:t>
            </a:fld>
            <a:endParaRPr lang="en-US"/>
          </a:p>
        </p:txBody>
      </p:sp>
      <p:sp>
        <p:nvSpPr>
          <p:cNvPr id="8" name="Footer Placeholder 7">
            <a:extLst>
              <a:ext uri="{FF2B5EF4-FFF2-40B4-BE49-F238E27FC236}">
                <a16:creationId xmlns:a16="http://schemas.microsoft.com/office/drawing/2014/main" id="{2302841B-9955-DDDF-E7B9-32124FA386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3A7AF3-4F49-E99E-4E4E-E29D722E5344}"/>
              </a:ext>
            </a:extLst>
          </p:cNvPr>
          <p:cNvSpPr>
            <a:spLocks noGrp="1"/>
          </p:cNvSpPr>
          <p:nvPr>
            <p:ph type="sldNum" sz="quarter" idx="12"/>
          </p:nvPr>
        </p:nvSpPr>
        <p:spPr/>
        <p:txBody>
          <a:bodyPr/>
          <a:lstStyle/>
          <a:p>
            <a:fld id="{FB625D89-1861-EC49-BB2E-9F095F60606E}" type="slidenum">
              <a:rPr lang="en-US" smtClean="0"/>
              <a:t>‹#›</a:t>
            </a:fld>
            <a:endParaRPr lang="en-US"/>
          </a:p>
        </p:txBody>
      </p:sp>
    </p:spTree>
    <p:extLst>
      <p:ext uri="{BB962C8B-B14F-4D97-AF65-F5344CB8AC3E}">
        <p14:creationId xmlns:p14="http://schemas.microsoft.com/office/powerpoint/2010/main" val="3388765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1C3A-1B10-6E13-1E5E-375C8131C5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A8B86E-3307-DA4C-A524-A5A3C42411B3}"/>
              </a:ext>
            </a:extLst>
          </p:cNvPr>
          <p:cNvSpPr>
            <a:spLocks noGrp="1"/>
          </p:cNvSpPr>
          <p:nvPr>
            <p:ph type="dt" sz="half" idx="10"/>
          </p:nvPr>
        </p:nvSpPr>
        <p:spPr/>
        <p:txBody>
          <a:bodyPr/>
          <a:lstStyle/>
          <a:p>
            <a:fld id="{75F6D810-F5EF-914D-9205-F52239C9A9C9}" type="datetimeFigureOut">
              <a:rPr lang="en-US" smtClean="0"/>
              <a:t>6/5/24</a:t>
            </a:fld>
            <a:endParaRPr lang="en-US"/>
          </a:p>
        </p:txBody>
      </p:sp>
      <p:sp>
        <p:nvSpPr>
          <p:cNvPr id="4" name="Footer Placeholder 3">
            <a:extLst>
              <a:ext uri="{FF2B5EF4-FFF2-40B4-BE49-F238E27FC236}">
                <a16:creationId xmlns:a16="http://schemas.microsoft.com/office/drawing/2014/main" id="{0085D470-0627-90AA-17FF-3F7C157065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1A5717-7E92-A0F6-8364-98D1ECCA5BBB}"/>
              </a:ext>
            </a:extLst>
          </p:cNvPr>
          <p:cNvSpPr>
            <a:spLocks noGrp="1"/>
          </p:cNvSpPr>
          <p:nvPr>
            <p:ph type="sldNum" sz="quarter" idx="12"/>
          </p:nvPr>
        </p:nvSpPr>
        <p:spPr/>
        <p:txBody>
          <a:bodyPr/>
          <a:lstStyle/>
          <a:p>
            <a:fld id="{FB625D89-1861-EC49-BB2E-9F095F60606E}" type="slidenum">
              <a:rPr lang="en-US" smtClean="0"/>
              <a:t>‹#›</a:t>
            </a:fld>
            <a:endParaRPr lang="en-US"/>
          </a:p>
        </p:txBody>
      </p:sp>
    </p:spTree>
    <p:extLst>
      <p:ext uri="{BB962C8B-B14F-4D97-AF65-F5344CB8AC3E}">
        <p14:creationId xmlns:p14="http://schemas.microsoft.com/office/powerpoint/2010/main" val="3751787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F3688B-0BFC-2061-7062-D641BBE38DCA}"/>
              </a:ext>
            </a:extLst>
          </p:cNvPr>
          <p:cNvSpPr>
            <a:spLocks noGrp="1"/>
          </p:cNvSpPr>
          <p:nvPr>
            <p:ph type="dt" sz="half" idx="10"/>
          </p:nvPr>
        </p:nvSpPr>
        <p:spPr/>
        <p:txBody>
          <a:bodyPr/>
          <a:lstStyle/>
          <a:p>
            <a:fld id="{75F6D810-F5EF-914D-9205-F52239C9A9C9}" type="datetimeFigureOut">
              <a:rPr lang="en-US" smtClean="0"/>
              <a:t>6/5/24</a:t>
            </a:fld>
            <a:endParaRPr lang="en-US"/>
          </a:p>
        </p:txBody>
      </p:sp>
      <p:sp>
        <p:nvSpPr>
          <p:cNvPr id="3" name="Footer Placeholder 2">
            <a:extLst>
              <a:ext uri="{FF2B5EF4-FFF2-40B4-BE49-F238E27FC236}">
                <a16:creationId xmlns:a16="http://schemas.microsoft.com/office/drawing/2014/main" id="{69DC0553-051F-9D6D-30C5-63A742A5608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4E621D-F0A3-4F6C-D88E-C4E23315CDDE}"/>
              </a:ext>
            </a:extLst>
          </p:cNvPr>
          <p:cNvSpPr>
            <a:spLocks noGrp="1"/>
          </p:cNvSpPr>
          <p:nvPr>
            <p:ph type="sldNum" sz="quarter" idx="12"/>
          </p:nvPr>
        </p:nvSpPr>
        <p:spPr/>
        <p:txBody>
          <a:bodyPr/>
          <a:lstStyle/>
          <a:p>
            <a:fld id="{FB625D89-1861-EC49-BB2E-9F095F60606E}" type="slidenum">
              <a:rPr lang="en-US" smtClean="0"/>
              <a:t>‹#›</a:t>
            </a:fld>
            <a:endParaRPr lang="en-US"/>
          </a:p>
        </p:txBody>
      </p:sp>
    </p:spTree>
    <p:extLst>
      <p:ext uri="{BB962C8B-B14F-4D97-AF65-F5344CB8AC3E}">
        <p14:creationId xmlns:p14="http://schemas.microsoft.com/office/powerpoint/2010/main" val="2243969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89ED5-BAAC-B4A4-CA44-81AB09301F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64888D-58E0-6705-2150-5343075417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D0F32FF-8915-2060-F78F-92F6D76B6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F33E4A-F9F7-AC13-EF2F-7F030327B5AF}"/>
              </a:ext>
            </a:extLst>
          </p:cNvPr>
          <p:cNvSpPr>
            <a:spLocks noGrp="1"/>
          </p:cNvSpPr>
          <p:nvPr>
            <p:ph type="dt" sz="half" idx="10"/>
          </p:nvPr>
        </p:nvSpPr>
        <p:spPr/>
        <p:txBody>
          <a:bodyPr/>
          <a:lstStyle/>
          <a:p>
            <a:fld id="{75F6D810-F5EF-914D-9205-F52239C9A9C9}" type="datetimeFigureOut">
              <a:rPr lang="en-US" smtClean="0"/>
              <a:t>6/5/24</a:t>
            </a:fld>
            <a:endParaRPr lang="en-US"/>
          </a:p>
        </p:txBody>
      </p:sp>
      <p:sp>
        <p:nvSpPr>
          <p:cNvPr id="6" name="Footer Placeholder 5">
            <a:extLst>
              <a:ext uri="{FF2B5EF4-FFF2-40B4-BE49-F238E27FC236}">
                <a16:creationId xmlns:a16="http://schemas.microsoft.com/office/drawing/2014/main" id="{B1F1217A-A668-DB74-9983-5F86337969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29512B-EEB0-03B4-35D9-8B200B116B1C}"/>
              </a:ext>
            </a:extLst>
          </p:cNvPr>
          <p:cNvSpPr>
            <a:spLocks noGrp="1"/>
          </p:cNvSpPr>
          <p:nvPr>
            <p:ph type="sldNum" sz="quarter" idx="12"/>
          </p:nvPr>
        </p:nvSpPr>
        <p:spPr/>
        <p:txBody>
          <a:bodyPr/>
          <a:lstStyle/>
          <a:p>
            <a:fld id="{FB625D89-1861-EC49-BB2E-9F095F60606E}" type="slidenum">
              <a:rPr lang="en-US" smtClean="0"/>
              <a:t>‹#›</a:t>
            </a:fld>
            <a:endParaRPr lang="en-US"/>
          </a:p>
        </p:txBody>
      </p:sp>
    </p:spTree>
    <p:extLst>
      <p:ext uri="{BB962C8B-B14F-4D97-AF65-F5344CB8AC3E}">
        <p14:creationId xmlns:p14="http://schemas.microsoft.com/office/powerpoint/2010/main" val="295928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9BAF2-4B24-AD70-FF01-01436A377D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0D4FDF-2D92-F94B-8E24-0BCA24A2ED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98CAF0-282D-7EC9-89DD-413DA43BC1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CD077-76E1-3846-72D4-F453E2BD7B01}"/>
              </a:ext>
            </a:extLst>
          </p:cNvPr>
          <p:cNvSpPr>
            <a:spLocks noGrp="1"/>
          </p:cNvSpPr>
          <p:nvPr>
            <p:ph type="dt" sz="half" idx="10"/>
          </p:nvPr>
        </p:nvSpPr>
        <p:spPr/>
        <p:txBody>
          <a:bodyPr/>
          <a:lstStyle/>
          <a:p>
            <a:fld id="{75F6D810-F5EF-914D-9205-F52239C9A9C9}" type="datetimeFigureOut">
              <a:rPr lang="en-US" smtClean="0"/>
              <a:t>6/5/24</a:t>
            </a:fld>
            <a:endParaRPr lang="en-US"/>
          </a:p>
        </p:txBody>
      </p:sp>
      <p:sp>
        <p:nvSpPr>
          <p:cNvPr id="6" name="Footer Placeholder 5">
            <a:extLst>
              <a:ext uri="{FF2B5EF4-FFF2-40B4-BE49-F238E27FC236}">
                <a16:creationId xmlns:a16="http://schemas.microsoft.com/office/drawing/2014/main" id="{FA0B89F2-3492-4291-B235-B8533D514C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0427C7-88AC-EF21-23CE-7F2568E4FF24}"/>
              </a:ext>
            </a:extLst>
          </p:cNvPr>
          <p:cNvSpPr>
            <a:spLocks noGrp="1"/>
          </p:cNvSpPr>
          <p:nvPr>
            <p:ph type="sldNum" sz="quarter" idx="12"/>
          </p:nvPr>
        </p:nvSpPr>
        <p:spPr/>
        <p:txBody>
          <a:bodyPr/>
          <a:lstStyle/>
          <a:p>
            <a:fld id="{FB625D89-1861-EC49-BB2E-9F095F60606E}" type="slidenum">
              <a:rPr lang="en-US" smtClean="0"/>
              <a:t>‹#›</a:t>
            </a:fld>
            <a:endParaRPr lang="en-US"/>
          </a:p>
        </p:txBody>
      </p:sp>
    </p:spTree>
    <p:extLst>
      <p:ext uri="{BB962C8B-B14F-4D97-AF65-F5344CB8AC3E}">
        <p14:creationId xmlns:p14="http://schemas.microsoft.com/office/powerpoint/2010/main" val="1933684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CCE01-D4D7-5D81-BA31-D3F4ADC640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446116-ACB6-C5D6-0311-8ACB3D3927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664481-84B9-B82C-EE97-F9542D934307}"/>
              </a:ext>
            </a:extLst>
          </p:cNvPr>
          <p:cNvSpPr>
            <a:spLocks noGrp="1"/>
          </p:cNvSpPr>
          <p:nvPr>
            <p:ph type="dt" sz="half" idx="10"/>
          </p:nvPr>
        </p:nvSpPr>
        <p:spPr/>
        <p:txBody>
          <a:bodyPr/>
          <a:lstStyle/>
          <a:p>
            <a:fld id="{75F6D810-F5EF-914D-9205-F52239C9A9C9}" type="datetimeFigureOut">
              <a:rPr lang="en-US" smtClean="0"/>
              <a:t>6/5/24</a:t>
            </a:fld>
            <a:endParaRPr lang="en-US"/>
          </a:p>
        </p:txBody>
      </p:sp>
      <p:sp>
        <p:nvSpPr>
          <p:cNvPr id="5" name="Footer Placeholder 4">
            <a:extLst>
              <a:ext uri="{FF2B5EF4-FFF2-40B4-BE49-F238E27FC236}">
                <a16:creationId xmlns:a16="http://schemas.microsoft.com/office/drawing/2014/main" id="{D2A2B542-D8A9-8484-8D1D-247E8A6C6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AB5A9A-2226-737A-A402-80B74A27903D}"/>
              </a:ext>
            </a:extLst>
          </p:cNvPr>
          <p:cNvSpPr>
            <a:spLocks noGrp="1"/>
          </p:cNvSpPr>
          <p:nvPr>
            <p:ph type="sldNum" sz="quarter" idx="12"/>
          </p:nvPr>
        </p:nvSpPr>
        <p:spPr/>
        <p:txBody>
          <a:bodyPr/>
          <a:lstStyle/>
          <a:p>
            <a:fld id="{FB625D89-1861-EC49-BB2E-9F095F60606E}" type="slidenum">
              <a:rPr lang="en-US" smtClean="0"/>
              <a:t>‹#›</a:t>
            </a:fld>
            <a:endParaRPr lang="en-US"/>
          </a:p>
        </p:txBody>
      </p:sp>
    </p:spTree>
    <p:extLst>
      <p:ext uri="{BB962C8B-B14F-4D97-AF65-F5344CB8AC3E}">
        <p14:creationId xmlns:p14="http://schemas.microsoft.com/office/powerpoint/2010/main" val="4174356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553BBE-6B81-66E5-DA7C-C37D7DE8EC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AA9D3B-F21D-DAA2-E5EF-DDA2C6B5D2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3E4224-A1B5-C395-37A2-59239A644C77}"/>
              </a:ext>
            </a:extLst>
          </p:cNvPr>
          <p:cNvSpPr>
            <a:spLocks noGrp="1"/>
          </p:cNvSpPr>
          <p:nvPr>
            <p:ph type="dt" sz="half" idx="10"/>
          </p:nvPr>
        </p:nvSpPr>
        <p:spPr/>
        <p:txBody>
          <a:bodyPr/>
          <a:lstStyle/>
          <a:p>
            <a:fld id="{75F6D810-F5EF-914D-9205-F52239C9A9C9}" type="datetimeFigureOut">
              <a:rPr lang="en-US" smtClean="0"/>
              <a:t>6/5/24</a:t>
            </a:fld>
            <a:endParaRPr lang="en-US"/>
          </a:p>
        </p:txBody>
      </p:sp>
      <p:sp>
        <p:nvSpPr>
          <p:cNvPr id="5" name="Footer Placeholder 4">
            <a:extLst>
              <a:ext uri="{FF2B5EF4-FFF2-40B4-BE49-F238E27FC236}">
                <a16:creationId xmlns:a16="http://schemas.microsoft.com/office/drawing/2014/main" id="{D7FBF8D6-BC2D-8094-5216-EECB20C663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3CF77D-3E79-8F87-60E5-74FD0F41E38A}"/>
              </a:ext>
            </a:extLst>
          </p:cNvPr>
          <p:cNvSpPr>
            <a:spLocks noGrp="1"/>
          </p:cNvSpPr>
          <p:nvPr>
            <p:ph type="sldNum" sz="quarter" idx="12"/>
          </p:nvPr>
        </p:nvSpPr>
        <p:spPr/>
        <p:txBody>
          <a:bodyPr/>
          <a:lstStyle/>
          <a:p>
            <a:fld id="{FB625D89-1861-EC49-BB2E-9F095F60606E}" type="slidenum">
              <a:rPr lang="en-US" smtClean="0"/>
              <a:t>‹#›</a:t>
            </a:fld>
            <a:endParaRPr lang="en-US"/>
          </a:p>
        </p:txBody>
      </p:sp>
    </p:spTree>
    <p:extLst>
      <p:ext uri="{BB962C8B-B14F-4D97-AF65-F5344CB8AC3E}">
        <p14:creationId xmlns:p14="http://schemas.microsoft.com/office/powerpoint/2010/main" val="218636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364A36-4343-501F-3EAC-F7992C2CAB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CB17E5-AD7C-BA16-4304-81E4D3D50E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BB4AC7-0E00-4843-3262-4682FDF94A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F6D810-F5EF-914D-9205-F52239C9A9C9}" type="datetimeFigureOut">
              <a:rPr lang="en-US" smtClean="0"/>
              <a:t>6/5/24</a:t>
            </a:fld>
            <a:endParaRPr lang="en-US"/>
          </a:p>
        </p:txBody>
      </p:sp>
      <p:sp>
        <p:nvSpPr>
          <p:cNvPr id="5" name="Footer Placeholder 4">
            <a:extLst>
              <a:ext uri="{FF2B5EF4-FFF2-40B4-BE49-F238E27FC236}">
                <a16:creationId xmlns:a16="http://schemas.microsoft.com/office/drawing/2014/main" id="{D7BC41BE-F954-FA48-4ED7-DFF45C3043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AFDE455-ABAA-88DA-F619-954EF54FB1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625D89-1861-EC49-BB2E-9F095F60606E}" type="slidenum">
              <a:rPr lang="en-US" smtClean="0"/>
              <a:t>‹#›</a:t>
            </a:fld>
            <a:endParaRPr lang="en-US"/>
          </a:p>
        </p:txBody>
      </p:sp>
    </p:spTree>
    <p:extLst>
      <p:ext uri="{BB962C8B-B14F-4D97-AF65-F5344CB8AC3E}">
        <p14:creationId xmlns:p14="http://schemas.microsoft.com/office/powerpoint/2010/main" val="39460561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tiff"/><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studio.code.org/s/oceans/lessons/1/levels/8" TargetMode="External"/><Relationship Id="rId2" Type="http://schemas.openxmlformats.org/officeDocument/2006/relationships/hyperlink" Target="https://studio.code.org/s/oceans/lessons/1/levels/2"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moralmachine.net/"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079AA-EB7B-A896-72B4-A3E323A451E5}"/>
              </a:ext>
            </a:extLst>
          </p:cNvPr>
          <p:cNvSpPr>
            <a:spLocks noGrp="1"/>
          </p:cNvSpPr>
          <p:nvPr>
            <p:ph type="ctrTitle"/>
          </p:nvPr>
        </p:nvSpPr>
        <p:spPr/>
        <p:txBody>
          <a:bodyPr/>
          <a:lstStyle/>
          <a:p>
            <a:r>
              <a:rPr lang="en-US" dirty="0"/>
              <a:t>Data Ethics and Society</a:t>
            </a:r>
          </a:p>
        </p:txBody>
      </p:sp>
      <p:sp>
        <p:nvSpPr>
          <p:cNvPr id="3" name="Subtitle 2">
            <a:extLst>
              <a:ext uri="{FF2B5EF4-FFF2-40B4-BE49-F238E27FC236}">
                <a16:creationId xmlns:a16="http://schemas.microsoft.com/office/drawing/2014/main" id="{C4C7D6B4-A7A7-7BFD-A3EF-D566D189B9B1}"/>
              </a:ext>
            </a:extLst>
          </p:cNvPr>
          <p:cNvSpPr>
            <a:spLocks noGrp="1"/>
          </p:cNvSpPr>
          <p:nvPr>
            <p:ph type="subTitle" idx="1"/>
          </p:nvPr>
        </p:nvSpPr>
        <p:spPr/>
        <p:txBody>
          <a:bodyPr>
            <a:normAutofit/>
          </a:bodyPr>
          <a:lstStyle/>
          <a:p>
            <a:r>
              <a:rPr lang="en-US" dirty="0"/>
              <a:t>Amanda R. </a:t>
            </a:r>
            <a:r>
              <a:rPr lang="en-US" dirty="0" err="1"/>
              <a:t>Kube</a:t>
            </a:r>
            <a:r>
              <a:rPr lang="en-US" dirty="0"/>
              <a:t> </a:t>
            </a:r>
            <a:r>
              <a:rPr lang="en-US" dirty="0" err="1"/>
              <a:t>Jotte</a:t>
            </a:r>
            <a:endParaRPr lang="en-US" dirty="0"/>
          </a:p>
          <a:p>
            <a:r>
              <a:rPr lang="en-US" dirty="0"/>
              <a:t>DSSI 2024</a:t>
            </a:r>
          </a:p>
          <a:p>
            <a:endParaRPr lang="en-US" dirty="0"/>
          </a:p>
          <a:p>
            <a:r>
              <a:rPr lang="en-US" sz="1400" dirty="0"/>
              <a:t>Slides taken in part from lectures by David </a:t>
            </a:r>
            <a:r>
              <a:rPr lang="en-US" sz="1400" dirty="0" err="1"/>
              <a:t>Uminsky</a:t>
            </a:r>
            <a:r>
              <a:rPr lang="en-US" sz="1400" dirty="0"/>
              <a:t> and Will Trimble</a:t>
            </a:r>
          </a:p>
        </p:txBody>
      </p:sp>
      <p:sp>
        <p:nvSpPr>
          <p:cNvPr id="4" name="Rectangle 3">
            <a:extLst>
              <a:ext uri="{FF2B5EF4-FFF2-40B4-BE49-F238E27FC236}">
                <a16:creationId xmlns:a16="http://schemas.microsoft.com/office/drawing/2014/main" id="{1BB74CC0-5249-2082-9432-6751FC395751}"/>
              </a:ext>
            </a:extLst>
          </p:cNvPr>
          <p:cNvSpPr/>
          <p:nvPr/>
        </p:nvSpPr>
        <p:spPr>
          <a:xfrm>
            <a:off x="-117567" y="-117566"/>
            <a:ext cx="12422777" cy="1410789"/>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Rectangle 4">
            <a:extLst>
              <a:ext uri="{FF2B5EF4-FFF2-40B4-BE49-F238E27FC236}">
                <a16:creationId xmlns:a16="http://schemas.microsoft.com/office/drawing/2014/main" id="{7F3DD590-0D78-D5C7-2620-49BB85508240}"/>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5AB12DCE-3124-2382-FF56-449DEA2C255B}"/>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2118463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482596-F540-AB4C-9473-3D39E6EFD4CF}"/>
              </a:ext>
            </a:extLst>
          </p:cNvPr>
          <p:cNvSpPr>
            <a:spLocks noGrp="1"/>
          </p:cNvSpPr>
          <p:nvPr>
            <p:ph type="title"/>
          </p:nvPr>
        </p:nvSpPr>
        <p:spPr/>
        <p:txBody>
          <a:bodyPr/>
          <a:lstStyle/>
          <a:p>
            <a:pPr algn="ctr"/>
            <a:r>
              <a:rPr lang="en-US" dirty="0"/>
              <a:t>Why do ethical issues arise in Data Science?</a:t>
            </a:r>
          </a:p>
        </p:txBody>
      </p:sp>
      <p:sp>
        <p:nvSpPr>
          <p:cNvPr id="2" name="Rectangle 1">
            <a:extLst>
              <a:ext uri="{FF2B5EF4-FFF2-40B4-BE49-F238E27FC236}">
                <a16:creationId xmlns:a16="http://schemas.microsoft.com/office/drawing/2014/main" id="{D8798838-AC00-C759-2104-BE963C5B0343}"/>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B5D12BDC-92C2-7FE3-4E87-FD1BC83EA540}"/>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1510014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482596-F540-AB4C-9473-3D39E6EFD4CF}"/>
              </a:ext>
            </a:extLst>
          </p:cNvPr>
          <p:cNvSpPr>
            <a:spLocks noGrp="1"/>
          </p:cNvSpPr>
          <p:nvPr>
            <p:ph type="title"/>
          </p:nvPr>
        </p:nvSpPr>
        <p:spPr/>
        <p:txBody>
          <a:bodyPr/>
          <a:lstStyle/>
          <a:p>
            <a:pPr algn="ctr"/>
            <a:r>
              <a:rPr lang="en-US" dirty="0"/>
              <a:t>What ethical issues have you heard about - from where?</a:t>
            </a:r>
          </a:p>
        </p:txBody>
      </p:sp>
      <p:sp>
        <p:nvSpPr>
          <p:cNvPr id="2" name="Rectangle 1">
            <a:extLst>
              <a:ext uri="{FF2B5EF4-FFF2-40B4-BE49-F238E27FC236}">
                <a16:creationId xmlns:a16="http://schemas.microsoft.com/office/drawing/2014/main" id="{D8798838-AC00-C759-2104-BE963C5B0343}"/>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B5D12BDC-92C2-7FE3-4E87-FD1BC83EA540}"/>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1389934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nvisible Women: Data Bias in a World ...">
            <a:extLst>
              <a:ext uri="{FF2B5EF4-FFF2-40B4-BE49-F238E27FC236}">
                <a16:creationId xmlns:a16="http://schemas.microsoft.com/office/drawing/2014/main" id="{B53C01D4-9834-2465-2CA0-D124C85D82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5095" y="1022253"/>
            <a:ext cx="2324100" cy="3505200"/>
          </a:xfrm>
          <a:prstGeom prst="rect">
            <a:avLst/>
          </a:prstGeom>
          <a:noFill/>
          <a:extLst>
            <a:ext uri="{909E8E84-426E-40DD-AFC4-6F175D3DCCD1}">
              <a14:hiddenFill xmlns:a14="http://schemas.microsoft.com/office/drawing/2010/main">
                <a:solidFill>
                  <a:srgbClr val="FFFFFF"/>
                </a:solidFill>
              </a14:hiddenFill>
            </a:ext>
          </a:extLst>
        </p:spPr>
      </p:pic>
      <p:pic>
        <p:nvPicPr>
          <p:cNvPr id="4" name="Content Placeholder 3"/>
          <p:cNvPicPr>
            <a:picLocks noGrp="1" noChangeAspect="1"/>
          </p:cNvPicPr>
          <p:nvPr>
            <p:ph idx="1"/>
          </p:nvPr>
        </p:nvPicPr>
        <p:blipFill rotWithShape="1">
          <a:blip r:embed="rId3" cstate="screen">
            <a:extLst>
              <a:ext uri="{28A0092B-C50C-407E-A947-70E740481C1C}">
                <a14:useLocalDpi xmlns:a14="http://schemas.microsoft.com/office/drawing/2010/main"/>
              </a:ext>
            </a:extLst>
          </a:blip>
          <a:srcRect l="-1208" r="-361"/>
          <a:stretch/>
        </p:blipFill>
        <p:spPr>
          <a:xfrm>
            <a:off x="9609997" y="851955"/>
            <a:ext cx="2465257" cy="3660650"/>
          </a:xfrm>
        </p:spPr>
      </p:pic>
      <p:pic>
        <p:nvPicPr>
          <p:cNvPr id="7" name="Picture 6" descr="Screen Shot 2017-05-26 at 8.25.42 AM.png"/>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269889" y="2954909"/>
            <a:ext cx="5175833" cy="1906247"/>
          </a:xfrm>
          <a:prstGeom prst="rect">
            <a:avLst/>
          </a:prstGeom>
        </p:spPr>
      </p:pic>
      <p:sp>
        <p:nvSpPr>
          <p:cNvPr id="3" name="TextBox 2"/>
          <p:cNvSpPr txBox="1"/>
          <p:nvPr/>
        </p:nvSpPr>
        <p:spPr>
          <a:xfrm>
            <a:off x="3252781" y="5842143"/>
            <a:ext cx="5297694" cy="461665"/>
          </a:xfrm>
          <a:prstGeom prst="rect">
            <a:avLst/>
          </a:prstGeom>
          <a:noFill/>
        </p:spPr>
        <p:txBody>
          <a:bodyPr wrap="none" rtlCol="0">
            <a:spAutoFit/>
          </a:bodyPr>
          <a:lstStyle/>
          <a:p>
            <a:r>
              <a:rPr lang="en-US" sz="2400" dirty="0"/>
              <a:t>“With Big Data comes Big Responsibility”</a:t>
            </a:r>
          </a:p>
        </p:txBody>
      </p:sp>
      <p:pic>
        <p:nvPicPr>
          <p:cNvPr id="5" name="Picture 4"/>
          <p:cNvPicPr>
            <a:picLocks noChangeAspect="1"/>
          </p:cNvPicPr>
          <p:nvPr/>
        </p:nvPicPr>
        <p:blipFill>
          <a:blip r:embed="rId5"/>
          <a:stretch>
            <a:fillRect/>
          </a:stretch>
        </p:blipFill>
        <p:spPr>
          <a:xfrm>
            <a:off x="7803856" y="211239"/>
            <a:ext cx="2081479" cy="1592331"/>
          </a:xfrm>
          <a:prstGeom prst="rect">
            <a:avLst/>
          </a:prstGeom>
        </p:spPr>
      </p:pic>
      <p:sp>
        <p:nvSpPr>
          <p:cNvPr id="2" name="Rectangle 1">
            <a:extLst>
              <a:ext uri="{FF2B5EF4-FFF2-40B4-BE49-F238E27FC236}">
                <a16:creationId xmlns:a16="http://schemas.microsoft.com/office/drawing/2014/main" id="{21ED5910-0CDA-D091-8543-BE94CA62F4CC}"/>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37E818D4-DAF2-BB26-1B00-B5EA8F798030}"/>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
        <p:nvSpPr>
          <p:cNvPr id="10" name="Rectangle 9">
            <a:extLst>
              <a:ext uri="{FF2B5EF4-FFF2-40B4-BE49-F238E27FC236}">
                <a16:creationId xmlns:a16="http://schemas.microsoft.com/office/drawing/2014/main" id="{19B00625-A00A-3AF4-E1F5-1287C4A544F8}"/>
              </a:ext>
            </a:extLst>
          </p:cNvPr>
          <p:cNvSpPr/>
          <p:nvPr/>
        </p:nvSpPr>
        <p:spPr>
          <a:xfrm>
            <a:off x="34833" y="65019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F194EF5E-BFBD-301A-2D55-5F5AF95C5F42}"/>
              </a:ext>
            </a:extLst>
          </p:cNvPr>
          <p:cNvSpPr txBox="1"/>
          <p:nvPr/>
        </p:nvSpPr>
        <p:spPr>
          <a:xfrm>
            <a:off x="5687414" y="6641068"/>
            <a:ext cx="1130438" cy="369332"/>
          </a:xfrm>
          <a:prstGeom prst="rect">
            <a:avLst/>
          </a:prstGeom>
          <a:noFill/>
        </p:spPr>
        <p:txBody>
          <a:bodyPr wrap="none" rtlCol="0">
            <a:spAutoFit/>
          </a:bodyPr>
          <a:lstStyle/>
          <a:p>
            <a:r>
              <a:rPr lang="en-US" b="1" dirty="0">
                <a:solidFill>
                  <a:schemeClr val="bg1"/>
                </a:solidFill>
              </a:rPr>
              <a:t>DSSI 2024</a:t>
            </a:r>
          </a:p>
        </p:txBody>
      </p:sp>
      <p:pic>
        <p:nvPicPr>
          <p:cNvPr id="1026" name="Picture 2" descr="Automating Inequality: How High-Tech ...">
            <a:extLst>
              <a:ext uri="{FF2B5EF4-FFF2-40B4-BE49-F238E27FC236}">
                <a16:creationId xmlns:a16="http://schemas.microsoft.com/office/drawing/2014/main" id="{642F771A-4E5F-8D5E-E257-75839A851C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79132" y="2281216"/>
            <a:ext cx="2324100" cy="3505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Screen Shot 2017-05-26 at 8.21.20 AM.png"/>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09976" y="679328"/>
            <a:ext cx="4579718" cy="1785087"/>
          </a:xfrm>
          <a:prstGeom prst="rect">
            <a:avLst/>
          </a:prstGeom>
        </p:spPr>
      </p:pic>
    </p:spTree>
    <p:extLst>
      <p:ext uri="{BB962C8B-B14F-4D97-AF65-F5344CB8AC3E}">
        <p14:creationId xmlns:p14="http://schemas.microsoft.com/office/powerpoint/2010/main" val="353131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B6FA8F-9ADC-004A-A2B2-5CA40B6F742D}"/>
              </a:ext>
            </a:extLst>
          </p:cNvPr>
          <p:cNvSpPr>
            <a:spLocks noGrp="1"/>
          </p:cNvSpPr>
          <p:nvPr>
            <p:ph type="title"/>
          </p:nvPr>
        </p:nvSpPr>
        <p:spPr/>
        <p:txBody>
          <a:bodyPr>
            <a:normAutofit/>
          </a:bodyPr>
          <a:lstStyle/>
          <a:p>
            <a:pPr algn="ctr"/>
            <a:r>
              <a:rPr lang="en-US" dirty="0"/>
              <a:t>When in the Data Scientific process do we have to worry about ethical issues arising?</a:t>
            </a:r>
          </a:p>
        </p:txBody>
      </p:sp>
      <p:sp>
        <p:nvSpPr>
          <p:cNvPr id="5" name="Text Placeholder 4">
            <a:extLst>
              <a:ext uri="{FF2B5EF4-FFF2-40B4-BE49-F238E27FC236}">
                <a16:creationId xmlns:a16="http://schemas.microsoft.com/office/drawing/2014/main" id="{380CA879-50AE-C24C-B7A4-A3B5742D232E}"/>
              </a:ext>
            </a:extLst>
          </p:cNvPr>
          <p:cNvSpPr>
            <a:spLocks noGrp="1"/>
          </p:cNvSpPr>
          <p:nvPr>
            <p:ph type="body" idx="1"/>
          </p:nvPr>
        </p:nvSpPr>
        <p:spPr/>
        <p:txBody>
          <a:bodyPr/>
          <a:lstStyle/>
          <a:p>
            <a:endParaRPr lang="en-US"/>
          </a:p>
        </p:txBody>
      </p:sp>
      <p:sp>
        <p:nvSpPr>
          <p:cNvPr id="2" name="Rectangle 1">
            <a:extLst>
              <a:ext uri="{FF2B5EF4-FFF2-40B4-BE49-F238E27FC236}">
                <a16:creationId xmlns:a16="http://schemas.microsoft.com/office/drawing/2014/main" id="{8810E3B4-42C3-C915-3F13-F008BC3B47D2}"/>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40B6C884-79E8-50E5-6EB0-98F96F9CA392}"/>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2636783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10" name="Title 1"/>
          <p:cNvSpPr txBox="1">
            <a:spLocks/>
          </p:cNvSpPr>
          <p:nvPr/>
        </p:nvSpPr>
        <p:spPr>
          <a:xfrm>
            <a:off x="1804349" y="224155"/>
            <a:ext cx="8229600" cy="690562"/>
          </a:xfrm>
          <a:prstGeom prst="rect">
            <a:avLst/>
          </a:prstGeom>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 The Data Science Lifecycle</a:t>
            </a:r>
          </a:p>
        </p:txBody>
      </p:sp>
      <p:pic>
        <p:nvPicPr>
          <p:cNvPr id="11" name="Picture 10" descr="Screen Shot 2017-04-29 at 7.31.13 AM.png"/>
          <p:cNvPicPr>
            <a:picLocks noChangeAspect="1"/>
          </p:cNvPicPr>
          <p:nvPr/>
        </p:nvPicPr>
        <p:blipFill rotWithShape="1">
          <a:blip r:embed="rId2">
            <a:extLst>
              <a:ext uri="{28A0092B-C50C-407E-A947-70E740481C1C}">
                <a14:useLocalDpi xmlns:a14="http://schemas.microsoft.com/office/drawing/2010/main"/>
              </a:ext>
            </a:extLst>
          </a:blip>
          <a:srcRect l="4513" r="3468"/>
          <a:stretch/>
        </p:blipFill>
        <p:spPr>
          <a:xfrm>
            <a:off x="2179103" y="1262489"/>
            <a:ext cx="8242080" cy="4650631"/>
          </a:xfrm>
          <a:prstGeom prst="rect">
            <a:avLst/>
          </a:prstGeom>
        </p:spPr>
      </p:pic>
      <p:sp>
        <p:nvSpPr>
          <p:cNvPr id="2" name="TextBox 1"/>
          <p:cNvSpPr txBox="1"/>
          <p:nvPr/>
        </p:nvSpPr>
        <p:spPr>
          <a:xfrm>
            <a:off x="6607840" y="5987018"/>
            <a:ext cx="4005520" cy="369332"/>
          </a:xfrm>
          <a:prstGeom prst="rect">
            <a:avLst/>
          </a:prstGeom>
          <a:noFill/>
        </p:spPr>
        <p:txBody>
          <a:bodyPr wrap="none" rtlCol="0">
            <a:spAutoFit/>
          </a:bodyPr>
          <a:lstStyle/>
          <a:p>
            <a:r>
              <a:rPr lang="en-US" dirty="0"/>
              <a:t>Communications of the ACM , April 2018</a:t>
            </a:r>
          </a:p>
        </p:txBody>
      </p:sp>
      <p:sp>
        <p:nvSpPr>
          <p:cNvPr id="3" name="Rectangle 2">
            <a:extLst>
              <a:ext uri="{FF2B5EF4-FFF2-40B4-BE49-F238E27FC236}">
                <a16:creationId xmlns:a16="http://schemas.microsoft.com/office/drawing/2014/main" id="{1BF13033-DE0D-8D5A-B9CF-A8C70218019E}"/>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2EC98B7-0C99-0197-2832-C2084A21768E}"/>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2210262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10" name="Title 1"/>
          <p:cNvSpPr txBox="1">
            <a:spLocks/>
          </p:cNvSpPr>
          <p:nvPr/>
        </p:nvSpPr>
        <p:spPr>
          <a:xfrm>
            <a:off x="1804349" y="298053"/>
            <a:ext cx="8229600" cy="690562"/>
          </a:xfrm>
          <a:prstGeom prst="rect">
            <a:avLst/>
          </a:prstGeom>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 The Data Science Lifecycle</a:t>
            </a:r>
          </a:p>
        </p:txBody>
      </p:sp>
      <p:pic>
        <p:nvPicPr>
          <p:cNvPr id="11" name="Picture 10" descr="Screen Shot 2017-04-29 at 7.31.13 AM.png"/>
          <p:cNvPicPr>
            <a:picLocks noChangeAspect="1"/>
          </p:cNvPicPr>
          <p:nvPr/>
        </p:nvPicPr>
        <p:blipFill rotWithShape="1">
          <a:blip r:embed="rId2">
            <a:extLst>
              <a:ext uri="{28A0092B-C50C-407E-A947-70E740481C1C}">
                <a14:useLocalDpi xmlns:a14="http://schemas.microsoft.com/office/drawing/2010/main"/>
              </a:ext>
            </a:extLst>
          </a:blip>
          <a:srcRect l="4513" r="3468"/>
          <a:stretch/>
        </p:blipFill>
        <p:spPr>
          <a:xfrm>
            <a:off x="2179103" y="1262489"/>
            <a:ext cx="8242080" cy="4650631"/>
          </a:xfrm>
          <a:prstGeom prst="rect">
            <a:avLst/>
          </a:prstGeom>
        </p:spPr>
      </p:pic>
      <p:sp>
        <p:nvSpPr>
          <p:cNvPr id="2" name="TextBox 1"/>
          <p:cNvSpPr txBox="1"/>
          <p:nvPr/>
        </p:nvSpPr>
        <p:spPr>
          <a:xfrm>
            <a:off x="6607840" y="5987018"/>
            <a:ext cx="4005520" cy="369332"/>
          </a:xfrm>
          <a:prstGeom prst="rect">
            <a:avLst/>
          </a:prstGeom>
          <a:noFill/>
        </p:spPr>
        <p:txBody>
          <a:bodyPr wrap="none" rtlCol="0">
            <a:spAutoFit/>
          </a:bodyPr>
          <a:lstStyle/>
          <a:p>
            <a:r>
              <a:rPr lang="en-US" dirty="0"/>
              <a:t>Communications of the ACM , April 2018</a:t>
            </a:r>
          </a:p>
        </p:txBody>
      </p:sp>
      <p:sp>
        <p:nvSpPr>
          <p:cNvPr id="3" name="Oval 2">
            <a:extLst>
              <a:ext uri="{FF2B5EF4-FFF2-40B4-BE49-F238E27FC236}">
                <a16:creationId xmlns:a16="http://schemas.microsoft.com/office/drawing/2014/main" id="{FF644BB4-7DF0-8343-B87A-1AD7E6539557}"/>
              </a:ext>
            </a:extLst>
          </p:cNvPr>
          <p:cNvSpPr/>
          <p:nvPr/>
        </p:nvSpPr>
        <p:spPr>
          <a:xfrm>
            <a:off x="1422400" y="1188591"/>
            <a:ext cx="9804399" cy="99580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D2CAC9-C28D-EFC7-47BB-5EC3AC96FC3C}"/>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23B42551-79B7-3269-1039-0B22E0A78748}"/>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
        <p:nvSpPr>
          <p:cNvPr id="8" name="TextBox 7">
            <a:extLst>
              <a:ext uri="{FF2B5EF4-FFF2-40B4-BE49-F238E27FC236}">
                <a16:creationId xmlns:a16="http://schemas.microsoft.com/office/drawing/2014/main" id="{0D4C2BDE-D7EB-941D-9D30-ABC455175E72}"/>
              </a:ext>
            </a:extLst>
          </p:cNvPr>
          <p:cNvSpPr txBox="1"/>
          <p:nvPr/>
        </p:nvSpPr>
        <p:spPr>
          <a:xfrm>
            <a:off x="320463" y="5585031"/>
            <a:ext cx="2203873" cy="461665"/>
          </a:xfrm>
          <a:prstGeom prst="rect">
            <a:avLst/>
          </a:prstGeom>
          <a:noFill/>
        </p:spPr>
        <p:txBody>
          <a:bodyPr wrap="none" rtlCol="0">
            <a:spAutoFit/>
          </a:bodyPr>
          <a:lstStyle/>
          <a:p>
            <a:r>
              <a:rPr lang="en-US" sz="2400" b="1" dirty="0"/>
              <a:t>Let’s make a list</a:t>
            </a:r>
          </a:p>
        </p:txBody>
      </p:sp>
    </p:spTree>
    <p:extLst>
      <p:ext uri="{BB962C8B-B14F-4D97-AF65-F5344CB8AC3E}">
        <p14:creationId xmlns:p14="http://schemas.microsoft.com/office/powerpoint/2010/main" val="3628867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10" name="Title 1"/>
          <p:cNvSpPr txBox="1">
            <a:spLocks/>
          </p:cNvSpPr>
          <p:nvPr/>
        </p:nvSpPr>
        <p:spPr>
          <a:xfrm>
            <a:off x="1804349" y="298053"/>
            <a:ext cx="8229600" cy="690562"/>
          </a:xfrm>
          <a:prstGeom prst="rect">
            <a:avLst/>
          </a:prstGeom>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 The Data Science Lifecycle</a:t>
            </a:r>
          </a:p>
        </p:txBody>
      </p:sp>
      <p:pic>
        <p:nvPicPr>
          <p:cNvPr id="11" name="Picture 10" descr="Screen Shot 2017-04-29 at 7.31.13 AM.png"/>
          <p:cNvPicPr>
            <a:picLocks noChangeAspect="1"/>
          </p:cNvPicPr>
          <p:nvPr/>
        </p:nvPicPr>
        <p:blipFill rotWithShape="1">
          <a:blip r:embed="rId2">
            <a:extLst>
              <a:ext uri="{28A0092B-C50C-407E-A947-70E740481C1C}">
                <a14:useLocalDpi xmlns:a14="http://schemas.microsoft.com/office/drawing/2010/main"/>
              </a:ext>
            </a:extLst>
          </a:blip>
          <a:srcRect l="4513" r="3468"/>
          <a:stretch/>
        </p:blipFill>
        <p:spPr>
          <a:xfrm>
            <a:off x="2179103" y="1262489"/>
            <a:ext cx="8242080" cy="4650631"/>
          </a:xfrm>
          <a:prstGeom prst="rect">
            <a:avLst/>
          </a:prstGeom>
        </p:spPr>
      </p:pic>
      <p:sp>
        <p:nvSpPr>
          <p:cNvPr id="2" name="TextBox 1"/>
          <p:cNvSpPr txBox="1"/>
          <p:nvPr/>
        </p:nvSpPr>
        <p:spPr>
          <a:xfrm>
            <a:off x="6607840" y="5987018"/>
            <a:ext cx="4005520" cy="369332"/>
          </a:xfrm>
          <a:prstGeom prst="rect">
            <a:avLst/>
          </a:prstGeom>
          <a:noFill/>
        </p:spPr>
        <p:txBody>
          <a:bodyPr wrap="none" rtlCol="0">
            <a:spAutoFit/>
          </a:bodyPr>
          <a:lstStyle/>
          <a:p>
            <a:r>
              <a:rPr lang="en-US" dirty="0"/>
              <a:t>Communications of the ACM , April 2018</a:t>
            </a:r>
          </a:p>
        </p:txBody>
      </p:sp>
      <p:sp>
        <p:nvSpPr>
          <p:cNvPr id="3" name="Oval 2">
            <a:extLst>
              <a:ext uri="{FF2B5EF4-FFF2-40B4-BE49-F238E27FC236}">
                <a16:creationId xmlns:a16="http://schemas.microsoft.com/office/drawing/2014/main" id="{FF644BB4-7DF0-8343-B87A-1AD7E6539557}"/>
              </a:ext>
            </a:extLst>
          </p:cNvPr>
          <p:cNvSpPr/>
          <p:nvPr/>
        </p:nvSpPr>
        <p:spPr>
          <a:xfrm>
            <a:off x="1834727" y="2047612"/>
            <a:ext cx="2203873" cy="99580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D2CAC9-C28D-EFC7-47BB-5EC3AC96FC3C}"/>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23B42551-79B7-3269-1039-0B22E0A78748}"/>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
        <p:nvSpPr>
          <p:cNvPr id="8" name="TextBox 7">
            <a:extLst>
              <a:ext uri="{FF2B5EF4-FFF2-40B4-BE49-F238E27FC236}">
                <a16:creationId xmlns:a16="http://schemas.microsoft.com/office/drawing/2014/main" id="{0D4C2BDE-D7EB-941D-9D30-ABC455175E72}"/>
              </a:ext>
            </a:extLst>
          </p:cNvPr>
          <p:cNvSpPr txBox="1"/>
          <p:nvPr/>
        </p:nvSpPr>
        <p:spPr>
          <a:xfrm>
            <a:off x="320463" y="5585031"/>
            <a:ext cx="2203873" cy="461665"/>
          </a:xfrm>
          <a:prstGeom prst="rect">
            <a:avLst/>
          </a:prstGeom>
          <a:noFill/>
        </p:spPr>
        <p:txBody>
          <a:bodyPr wrap="none" rtlCol="0">
            <a:spAutoFit/>
          </a:bodyPr>
          <a:lstStyle/>
          <a:p>
            <a:r>
              <a:rPr lang="en-US" sz="2400" b="1" dirty="0"/>
              <a:t>Let’s make a list</a:t>
            </a:r>
          </a:p>
        </p:txBody>
      </p:sp>
    </p:spTree>
    <p:extLst>
      <p:ext uri="{BB962C8B-B14F-4D97-AF65-F5344CB8AC3E}">
        <p14:creationId xmlns:p14="http://schemas.microsoft.com/office/powerpoint/2010/main" val="90602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10" name="Title 1"/>
          <p:cNvSpPr txBox="1">
            <a:spLocks/>
          </p:cNvSpPr>
          <p:nvPr/>
        </p:nvSpPr>
        <p:spPr>
          <a:xfrm>
            <a:off x="1804349" y="298053"/>
            <a:ext cx="8229600" cy="690562"/>
          </a:xfrm>
          <a:prstGeom prst="rect">
            <a:avLst/>
          </a:prstGeom>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 The Data Science Lifecycle</a:t>
            </a:r>
          </a:p>
        </p:txBody>
      </p:sp>
      <p:pic>
        <p:nvPicPr>
          <p:cNvPr id="11" name="Picture 10" descr="Screen Shot 2017-04-29 at 7.31.13 AM.png"/>
          <p:cNvPicPr>
            <a:picLocks noChangeAspect="1"/>
          </p:cNvPicPr>
          <p:nvPr/>
        </p:nvPicPr>
        <p:blipFill rotWithShape="1">
          <a:blip r:embed="rId2">
            <a:extLst>
              <a:ext uri="{28A0092B-C50C-407E-A947-70E740481C1C}">
                <a14:useLocalDpi xmlns:a14="http://schemas.microsoft.com/office/drawing/2010/main"/>
              </a:ext>
            </a:extLst>
          </a:blip>
          <a:srcRect l="4513" r="3468"/>
          <a:stretch/>
        </p:blipFill>
        <p:spPr>
          <a:xfrm>
            <a:off x="2179103" y="1262489"/>
            <a:ext cx="8242080" cy="4650631"/>
          </a:xfrm>
          <a:prstGeom prst="rect">
            <a:avLst/>
          </a:prstGeom>
        </p:spPr>
      </p:pic>
      <p:sp>
        <p:nvSpPr>
          <p:cNvPr id="2" name="TextBox 1"/>
          <p:cNvSpPr txBox="1"/>
          <p:nvPr/>
        </p:nvSpPr>
        <p:spPr>
          <a:xfrm>
            <a:off x="6607840" y="5987018"/>
            <a:ext cx="4005520" cy="369332"/>
          </a:xfrm>
          <a:prstGeom prst="rect">
            <a:avLst/>
          </a:prstGeom>
          <a:noFill/>
        </p:spPr>
        <p:txBody>
          <a:bodyPr wrap="none" rtlCol="0">
            <a:spAutoFit/>
          </a:bodyPr>
          <a:lstStyle/>
          <a:p>
            <a:r>
              <a:rPr lang="en-US" dirty="0"/>
              <a:t>Communications of the ACM , April 2018</a:t>
            </a:r>
          </a:p>
        </p:txBody>
      </p:sp>
      <p:sp>
        <p:nvSpPr>
          <p:cNvPr id="3" name="Oval 2">
            <a:extLst>
              <a:ext uri="{FF2B5EF4-FFF2-40B4-BE49-F238E27FC236}">
                <a16:creationId xmlns:a16="http://schemas.microsoft.com/office/drawing/2014/main" id="{FF644BB4-7DF0-8343-B87A-1AD7E6539557}"/>
              </a:ext>
            </a:extLst>
          </p:cNvPr>
          <p:cNvSpPr/>
          <p:nvPr/>
        </p:nvSpPr>
        <p:spPr>
          <a:xfrm>
            <a:off x="3428395" y="2060675"/>
            <a:ext cx="2203873" cy="99580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D2CAC9-C28D-EFC7-47BB-5EC3AC96FC3C}"/>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23B42551-79B7-3269-1039-0B22E0A78748}"/>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
        <p:nvSpPr>
          <p:cNvPr id="8" name="TextBox 7">
            <a:extLst>
              <a:ext uri="{FF2B5EF4-FFF2-40B4-BE49-F238E27FC236}">
                <a16:creationId xmlns:a16="http://schemas.microsoft.com/office/drawing/2014/main" id="{0D4C2BDE-D7EB-941D-9D30-ABC455175E72}"/>
              </a:ext>
            </a:extLst>
          </p:cNvPr>
          <p:cNvSpPr txBox="1"/>
          <p:nvPr/>
        </p:nvSpPr>
        <p:spPr>
          <a:xfrm>
            <a:off x="320463" y="5585031"/>
            <a:ext cx="2203873" cy="461665"/>
          </a:xfrm>
          <a:prstGeom prst="rect">
            <a:avLst/>
          </a:prstGeom>
          <a:noFill/>
        </p:spPr>
        <p:txBody>
          <a:bodyPr wrap="none" rtlCol="0">
            <a:spAutoFit/>
          </a:bodyPr>
          <a:lstStyle/>
          <a:p>
            <a:r>
              <a:rPr lang="en-US" sz="2400" b="1" dirty="0"/>
              <a:t>Let’s make a list</a:t>
            </a:r>
          </a:p>
        </p:txBody>
      </p:sp>
    </p:spTree>
    <p:extLst>
      <p:ext uri="{BB962C8B-B14F-4D97-AF65-F5344CB8AC3E}">
        <p14:creationId xmlns:p14="http://schemas.microsoft.com/office/powerpoint/2010/main" val="3205075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10" name="Title 1"/>
          <p:cNvSpPr txBox="1">
            <a:spLocks/>
          </p:cNvSpPr>
          <p:nvPr/>
        </p:nvSpPr>
        <p:spPr>
          <a:xfrm>
            <a:off x="1804349" y="298053"/>
            <a:ext cx="8229600" cy="690562"/>
          </a:xfrm>
          <a:prstGeom prst="rect">
            <a:avLst/>
          </a:prstGeom>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 The Data Science Lifecycle</a:t>
            </a:r>
          </a:p>
        </p:txBody>
      </p:sp>
      <p:pic>
        <p:nvPicPr>
          <p:cNvPr id="11" name="Picture 10" descr="Screen Shot 2017-04-29 at 7.31.13 AM.png"/>
          <p:cNvPicPr>
            <a:picLocks noChangeAspect="1"/>
          </p:cNvPicPr>
          <p:nvPr/>
        </p:nvPicPr>
        <p:blipFill rotWithShape="1">
          <a:blip r:embed="rId2">
            <a:extLst>
              <a:ext uri="{28A0092B-C50C-407E-A947-70E740481C1C}">
                <a14:useLocalDpi xmlns:a14="http://schemas.microsoft.com/office/drawing/2010/main"/>
              </a:ext>
            </a:extLst>
          </a:blip>
          <a:srcRect l="4513" r="3468"/>
          <a:stretch/>
        </p:blipFill>
        <p:spPr>
          <a:xfrm>
            <a:off x="2179103" y="1262489"/>
            <a:ext cx="8242080" cy="4650631"/>
          </a:xfrm>
          <a:prstGeom prst="rect">
            <a:avLst/>
          </a:prstGeom>
        </p:spPr>
      </p:pic>
      <p:sp>
        <p:nvSpPr>
          <p:cNvPr id="2" name="TextBox 1"/>
          <p:cNvSpPr txBox="1"/>
          <p:nvPr/>
        </p:nvSpPr>
        <p:spPr>
          <a:xfrm>
            <a:off x="6607840" y="5987018"/>
            <a:ext cx="4005520" cy="369332"/>
          </a:xfrm>
          <a:prstGeom prst="rect">
            <a:avLst/>
          </a:prstGeom>
          <a:noFill/>
        </p:spPr>
        <p:txBody>
          <a:bodyPr wrap="none" rtlCol="0">
            <a:spAutoFit/>
          </a:bodyPr>
          <a:lstStyle/>
          <a:p>
            <a:r>
              <a:rPr lang="en-US" dirty="0"/>
              <a:t>Communications of the ACM , April 2018</a:t>
            </a:r>
          </a:p>
        </p:txBody>
      </p:sp>
      <p:sp>
        <p:nvSpPr>
          <p:cNvPr id="3" name="Oval 2">
            <a:extLst>
              <a:ext uri="{FF2B5EF4-FFF2-40B4-BE49-F238E27FC236}">
                <a16:creationId xmlns:a16="http://schemas.microsoft.com/office/drawing/2014/main" id="{FF644BB4-7DF0-8343-B87A-1AD7E6539557}"/>
              </a:ext>
            </a:extLst>
          </p:cNvPr>
          <p:cNvSpPr/>
          <p:nvPr/>
        </p:nvSpPr>
        <p:spPr>
          <a:xfrm>
            <a:off x="4998296" y="2047612"/>
            <a:ext cx="2203873" cy="99580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D2CAC9-C28D-EFC7-47BB-5EC3AC96FC3C}"/>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23B42551-79B7-3269-1039-0B22E0A78748}"/>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
        <p:nvSpPr>
          <p:cNvPr id="8" name="TextBox 7">
            <a:extLst>
              <a:ext uri="{FF2B5EF4-FFF2-40B4-BE49-F238E27FC236}">
                <a16:creationId xmlns:a16="http://schemas.microsoft.com/office/drawing/2014/main" id="{0D4C2BDE-D7EB-941D-9D30-ABC455175E72}"/>
              </a:ext>
            </a:extLst>
          </p:cNvPr>
          <p:cNvSpPr txBox="1"/>
          <p:nvPr/>
        </p:nvSpPr>
        <p:spPr>
          <a:xfrm>
            <a:off x="320463" y="5585031"/>
            <a:ext cx="2203873" cy="461665"/>
          </a:xfrm>
          <a:prstGeom prst="rect">
            <a:avLst/>
          </a:prstGeom>
          <a:noFill/>
        </p:spPr>
        <p:txBody>
          <a:bodyPr wrap="none" rtlCol="0">
            <a:spAutoFit/>
          </a:bodyPr>
          <a:lstStyle/>
          <a:p>
            <a:r>
              <a:rPr lang="en-US" sz="2400" b="1" dirty="0"/>
              <a:t>Let’s make a list</a:t>
            </a:r>
          </a:p>
        </p:txBody>
      </p:sp>
    </p:spTree>
    <p:extLst>
      <p:ext uri="{BB962C8B-B14F-4D97-AF65-F5344CB8AC3E}">
        <p14:creationId xmlns:p14="http://schemas.microsoft.com/office/powerpoint/2010/main" val="228951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10" name="Title 1"/>
          <p:cNvSpPr txBox="1">
            <a:spLocks/>
          </p:cNvSpPr>
          <p:nvPr/>
        </p:nvSpPr>
        <p:spPr>
          <a:xfrm>
            <a:off x="1804349" y="298053"/>
            <a:ext cx="8229600" cy="690562"/>
          </a:xfrm>
          <a:prstGeom prst="rect">
            <a:avLst/>
          </a:prstGeom>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 The Data Science Lifecycle</a:t>
            </a:r>
          </a:p>
        </p:txBody>
      </p:sp>
      <p:pic>
        <p:nvPicPr>
          <p:cNvPr id="11" name="Picture 10" descr="Screen Shot 2017-04-29 at 7.31.13 AM.png"/>
          <p:cNvPicPr>
            <a:picLocks noChangeAspect="1"/>
          </p:cNvPicPr>
          <p:nvPr/>
        </p:nvPicPr>
        <p:blipFill rotWithShape="1">
          <a:blip r:embed="rId2">
            <a:extLst>
              <a:ext uri="{28A0092B-C50C-407E-A947-70E740481C1C}">
                <a14:useLocalDpi xmlns:a14="http://schemas.microsoft.com/office/drawing/2010/main"/>
              </a:ext>
            </a:extLst>
          </a:blip>
          <a:srcRect l="4513" r="3468"/>
          <a:stretch/>
        </p:blipFill>
        <p:spPr>
          <a:xfrm>
            <a:off x="2179103" y="1262489"/>
            <a:ext cx="8242080" cy="4650631"/>
          </a:xfrm>
          <a:prstGeom prst="rect">
            <a:avLst/>
          </a:prstGeom>
        </p:spPr>
      </p:pic>
      <p:sp>
        <p:nvSpPr>
          <p:cNvPr id="2" name="TextBox 1"/>
          <p:cNvSpPr txBox="1"/>
          <p:nvPr/>
        </p:nvSpPr>
        <p:spPr>
          <a:xfrm>
            <a:off x="6607840" y="5987018"/>
            <a:ext cx="4005520" cy="369332"/>
          </a:xfrm>
          <a:prstGeom prst="rect">
            <a:avLst/>
          </a:prstGeom>
          <a:noFill/>
        </p:spPr>
        <p:txBody>
          <a:bodyPr wrap="none" rtlCol="0">
            <a:spAutoFit/>
          </a:bodyPr>
          <a:lstStyle/>
          <a:p>
            <a:r>
              <a:rPr lang="en-US" dirty="0"/>
              <a:t>Communications of the ACM , April 2018</a:t>
            </a:r>
          </a:p>
        </p:txBody>
      </p:sp>
      <p:sp>
        <p:nvSpPr>
          <p:cNvPr id="3" name="Oval 2">
            <a:extLst>
              <a:ext uri="{FF2B5EF4-FFF2-40B4-BE49-F238E27FC236}">
                <a16:creationId xmlns:a16="http://schemas.microsoft.com/office/drawing/2014/main" id="{FF644BB4-7DF0-8343-B87A-1AD7E6539557}"/>
              </a:ext>
            </a:extLst>
          </p:cNvPr>
          <p:cNvSpPr/>
          <p:nvPr/>
        </p:nvSpPr>
        <p:spPr>
          <a:xfrm>
            <a:off x="6761782" y="2060675"/>
            <a:ext cx="2203873" cy="99580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D2CAC9-C28D-EFC7-47BB-5EC3AC96FC3C}"/>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23B42551-79B7-3269-1039-0B22E0A78748}"/>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
        <p:nvSpPr>
          <p:cNvPr id="8" name="TextBox 7">
            <a:extLst>
              <a:ext uri="{FF2B5EF4-FFF2-40B4-BE49-F238E27FC236}">
                <a16:creationId xmlns:a16="http://schemas.microsoft.com/office/drawing/2014/main" id="{0D4C2BDE-D7EB-941D-9D30-ABC455175E72}"/>
              </a:ext>
            </a:extLst>
          </p:cNvPr>
          <p:cNvSpPr txBox="1"/>
          <p:nvPr/>
        </p:nvSpPr>
        <p:spPr>
          <a:xfrm>
            <a:off x="320463" y="5585031"/>
            <a:ext cx="2203873" cy="461665"/>
          </a:xfrm>
          <a:prstGeom prst="rect">
            <a:avLst/>
          </a:prstGeom>
          <a:noFill/>
        </p:spPr>
        <p:txBody>
          <a:bodyPr wrap="none" rtlCol="0">
            <a:spAutoFit/>
          </a:bodyPr>
          <a:lstStyle/>
          <a:p>
            <a:r>
              <a:rPr lang="en-US" sz="2400" b="1" dirty="0"/>
              <a:t>Let’s make a list</a:t>
            </a:r>
          </a:p>
        </p:txBody>
      </p:sp>
    </p:spTree>
    <p:extLst>
      <p:ext uri="{BB962C8B-B14F-4D97-AF65-F5344CB8AC3E}">
        <p14:creationId xmlns:p14="http://schemas.microsoft.com/office/powerpoint/2010/main" val="3768393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10" name="Title 1"/>
          <p:cNvSpPr txBox="1">
            <a:spLocks/>
          </p:cNvSpPr>
          <p:nvPr/>
        </p:nvSpPr>
        <p:spPr>
          <a:xfrm>
            <a:off x="1804349" y="298053"/>
            <a:ext cx="8229600" cy="690562"/>
          </a:xfrm>
          <a:prstGeom prst="rect">
            <a:avLst/>
          </a:prstGeom>
        </p:spPr>
        <p:txBody>
          <a:bodyPr vert="horz" lIns="91440" tIns="45720" rIns="91440" bIns="45720" rtlCol="0" anchor="ctr">
            <a:normAutofit fontScale="90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t> The Data Science Lifecycle</a:t>
            </a:r>
          </a:p>
        </p:txBody>
      </p:sp>
      <p:pic>
        <p:nvPicPr>
          <p:cNvPr id="11" name="Picture 10" descr="Screen Shot 2017-04-29 at 7.31.13 AM.png"/>
          <p:cNvPicPr>
            <a:picLocks noChangeAspect="1"/>
          </p:cNvPicPr>
          <p:nvPr/>
        </p:nvPicPr>
        <p:blipFill rotWithShape="1">
          <a:blip r:embed="rId2">
            <a:extLst>
              <a:ext uri="{28A0092B-C50C-407E-A947-70E740481C1C}">
                <a14:useLocalDpi xmlns:a14="http://schemas.microsoft.com/office/drawing/2010/main"/>
              </a:ext>
            </a:extLst>
          </a:blip>
          <a:srcRect l="4513" r="3468"/>
          <a:stretch/>
        </p:blipFill>
        <p:spPr>
          <a:xfrm>
            <a:off x="2179103" y="1262489"/>
            <a:ext cx="8242080" cy="4650631"/>
          </a:xfrm>
          <a:prstGeom prst="rect">
            <a:avLst/>
          </a:prstGeom>
        </p:spPr>
      </p:pic>
      <p:sp>
        <p:nvSpPr>
          <p:cNvPr id="2" name="TextBox 1"/>
          <p:cNvSpPr txBox="1"/>
          <p:nvPr/>
        </p:nvSpPr>
        <p:spPr>
          <a:xfrm>
            <a:off x="6607840" y="5987018"/>
            <a:ext cx="4005520" cy="369332"/>
          </a:xfrm>
          <a:prstGeom prst="rect">
            <a:avLst/>
          </a:prstGeom>
          <a:noFill/>
        </p:spPr>
        <p:txBody>
          <a:bodyPr wrap="none" rtlCol="0">
            <a:spAutoFit/>
          </a:bodyPr>
          <a:lstStyle/>
          <a:p>
            <a:r>
              <a:rPr lang="en-US" dirty="0"/>
              <a:t>Communications of the ACM , April 2018</a:t>
            </a:r>
          </a:p>
        </p:txBody>
      </p:sp>
      <p:sp>
        <p:nvSpPr>
          <p:cNvPr id="3" name="Oval 2">
            <a:extLst>
              <a:ext uri="{FF2B5EF4-FFF2-40B4-BE49-F238E27FC236}">
                <a16:creationId xmlns:a16="http://schemas.microsoft.com/office/drawing/2014/main" id="{FF644BB4-7DF0-8343-B87A-1AD7E6539557}"/>
              </a:ext>
            </a:extLst>
          </p:cNvPr>
          <p:cNvSpPr/>
          <p:nvPr/>
        </p:nvSpPr>
        <p:spPr>
          <a:xfrm>
            <a:off x="8409487" y="2034550"/>
            <a:ext cx="2203873" cy="99580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0D2CAC9-C28D-EFC7-47BB-5EC3AC96FC3C}"/>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23B42551-79B7-3269-1039-0B22E0A78748}"/>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
        <p:nvSpPr>
          <p:cNvPr id="8" name="TextBox 7">
            <a:extLst>
              <a:ext uri="{FF2B5EF4-FFF2-40B4-BE49-F238E27FC236}">
                <a16:creationId xmlns:a16="http://schemas.microsoft.com/office/drawing/2014/main" id="{0D4C2BDE-D7EB-941D-9D30-ABC455175E72}"/>
              </a:ext>
            </a:extLst>
          </p:cNvPr>
          <p:cNvSpPr txBox="1"/>
          <p:nvPr/>
        </p:nvSpPr>
        <p:spPr>
          <a:xfrm>
            <a:off x="320463" y="5585031"/>
            <a:ext cx="2203873" cy="461665"/>
          </a:xfrm>
          <a:prstGeom prst="rect">
            <a:avLst/>
          </a:prstGeom>
          <a:noFill/>
        </p:spPr>
        <p:txBody>
          <a:bodyPr wrap="none" rtlCol="0">
            <a:spAutoFit/>
          </a:bodyPr>
          <a:lstStyle/>
          <a:p>
            <a:r>
              <a:rPr lang="en-US" sz="2400" b="1" dirty="0"/>
              <a:t>Let’s make a list</a:t>
            </a:r>
          </a:p>
        </p:txBody>
      </p:sp>
    </p:spTree>
    <p:extLst>
      <p:ext uri="{BB962C8B-B14F-4D97-AF65-F5344CB8AC3E}">
        <p14:creationId xmlns:p14="http://schemas.microsoft.com/office/powerpoint/2010/main" val="80488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Science is increasingly used to feed ML/AI</a:t>
            </a:r>
          </a:p>
        </p:txBody>
      </p:sp>
      <p:sp>
        <p:nvSpPr>
          <p:cNvPr id="3" name="Rectangle 2">
            <a:extLst>
              <a:ext uri="{FF2B5EF4-FFF2-40B4-BE49-F238E27FC236}">
                <a16:creationId xmlns:a16="http://schemas.microsoft.com/office/drawing/2014/main" id="{578ED19F-C0BB-EFC2-0ED2-A8690C76B341}"/>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55C62954-E486-9796-0240-C94E3E821862}"/>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
        <p:nvSpPr>
          <p:cNvPr id="10" name="Content Placeholder 9">
            <a:extLst>
              <a:ext uri="{FF2B5EF4-FFF2-40B4-BE49-F238E27FC236}">
                <a16:creationId xmlns:a16="http://schemas.microsoft.com/office/drawing/2014/main" id="{7BCF533B-0E21-2950-5650-D86EADB36DCC}"/>
              </a:ext>
            </a:extLst>
          </p:cNvPr>
          <p:cNvSpPr>
            <a:spLocks noGrp="1"/>
          </p:cNvSpPr>
          <p:nvPr>
            <p:ph idx="1"/>
          </p:nvPr>
        </p:nvSpPr>
        <p:spPr>
          <a:xfrm>
            <a:off x="838200" y="1825625"/>
            <a:ext cx="10515600" cy="4065509"/>
          </a:xfrm>
        </p:spPr>
        <p:txBody>
          <a:bodyPr>
            <a:normAutofit fontScale="92500" lnSpcReduction="20000"/>
          </a:bodyPr>
          <a:lstStyle/>
          <a:p>
            <a:r>
              <a:rPr lang="en-US" dirty="0"/>
              <a:t>You’ve used data science to feed AI and will continue to do this throughout the program</a:t>
            </a:r>
          </a:p>
          <a:p>
            <a:endParaRPr lang="en-US" dirty="0"/>
          </a:p>
          <a:p>
            <a:r>
              <a:rPr lang="en-US" dirty="0"/>
              <a:t>Let’s practice creating training data in a quick activity:</a:t>
            </a:r>
          </a:p>
          <a:p>
            <a:pPr marL="0" indent="0">
              <a:buNone/>
            </a:pPr>
            <a:r>
              <a:rPr lang="en-US" dirty="0">
                <a:hlinkClick r:id="rId2"/>
              </a:rPr>
              <a:t>https://studio.code.org/s/oceans/lessons/1/levels/2</a:t>
            </a:r>
            <a:r>
              <a:rPr lang="en-US" dirty="0"/>
              <a:t> (complete levels 2 &amp; 3)</a:t>
            </a:r>
          </a:p>
          <a:p>
            <a:endParaRPr lang="en-US" dirty="0"/>
          </a:p>
          <a:p>
            <a:r>
              <a:rPr lang="en-US" dirty="0"/>
              <a:t>Sometimes what we train AI to detect is not always concrete</a:t>
            </a:r>
          </a:p>
          <a:p>
            <a:endParaRPr lang="en-US" dirty="0"/>
          </a:p>
          <a:p>
            <a:r>
              <a:rPr lang="en-US" dirty="0"/>
              <a:t>Another quick illustrative activity: </a:t>
            </a:r>
            <a:r>
              <a:rPr lang="en-US" dirty="0">
                <a:hlinkClick r:id="rId3"/>
              </a:rPr>
              <a:t>https://studio.code.org/s/oceans/lessons/1/levels/8</a:t>
            </a:r>
            <a:r>
              <a:rPr lang="en-US" dirty="0"/>
              <a:t> (complete level 8)</a:t>
            </a:r>
          </a:p>
          <a:p>
            <a:endParaRPr lang="en-US" dirty="0"/>
          </a:p>
        </p:txBody>
      </p:sp>
    </p:spTree>
    <p:extLst>
      <p:ext uri="{BB962C8B-B14F-4D97-AF65-F5344CB8AC3E}">
        <p14:creationId xmlns:p14="http://schemas.microsoft.com/office/powerpoint/2010/main" val="937447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 the real world, who chooses how the data is labeled?</a:t>
            </a:r>
          </a:p>
        </p:txBody>
      </p:sp>
      <p:sp>
        <p:nvSpPr>
          <p:cNvPr id="3" name="Rectangle 2">
            <a:extLst>
              <a:ext uri="{FF2B5EF4-FFF2-40B4-BE49-F238E27FC236}">
                <a16:creationId xmlns:a16="http://schemas.microsoft.com/office/drawing/2014/main" id="{578ED19F-C0BB-EFC2-0ED2-A8690C76B341}"/>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55C62954-E486-9796-0240-C94E3E821862}"/>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
        <p:nvSpPr>
          <p:cNvPr id="10" name="Content Placeholder 9">
            <a:extLst>
              <a:ext uri="{FF2B5EF4-FFF2-40B4-BE49-F238E27FC236}">
                <a16:creationId xmlns:a16="http://schemas.microsoft.com/office/drawing/2014/main" id="{7BCF533B-0E21-2950-5650-D86EADB36DCC}"/>
              </a:ext>
            </a:extLst>
          </p:cNvPr>
          <p:cNvSpPr>
            <a:spLocks noGrp="1"/>
          </p:cNvSpPr>
          <p:nvPr>
            <p:ph idx="1"/>
          </p:nvPr>
        </p:nvSpPr>
        <p:spPr>
          <a:xfrm>
            <a:off x="838200" y="2416629"/>
            <a:ext cx="10515600" cy="3474505"/>
          </a:xfrm>
        </p:spPr>
        <p:txBody>
          <a:bodyPr>
            <a:normAutofit/>
          </a:bodyPr>
          <a:lstStyle/>
          <a:p>
            <a:r>
              <a:rPr lang="en-US" dirty="0"/>
              <a:t>Who should choose?</a:t>
            </a:r>
            <a:br>
              <a:rPr lang="en-US" dirty="0"/>
            </a:br>
            <a:endParaRPr lang="en-US" dirty="0"/>
          </a:p>
          <a:p>
            <a:pPr marL="0" indent="0">
              <a:buNone/>
            </a:pPr>
            <a:r>
              <a:rPr lang="en-US" dirty="0"/>
              <a:t>	</a:t>
            </a:r>
            <a:r>
              <a:rPr lang="en-US" dirty="0">
                <a:hlinkClick r:id="rId2"/>
              </a:rPr>
              <a:t>https://www.moralmachine.net/</a:t>
            </a:r>
            <a:r>
              <a:rPr lang="en-US" dirty="0"/>
              <a:t> </a:t>
            </a:r>
          </a:p>
          <a:p>
            <a:endParaRPr lang="en-US" dirty="0"/>
          </a:p>
        </p:txBody>
      </p:sp>
    </p:spTree>
    <p:extLst>
      <p:ext uri="{BB962C8B-B14F-4D97-AF65-F5344CB8AC3E}">
        <p14:creationId xmlns:p14="http://schemas.microsoft.com/office/powerpoint/2010/main" val="3811966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482596-F540-AB4C-9473-3D39E6EFD4CF}"/>
              </a:ext>
            </a:extLst>
          </p:cNvPr>
          <p:cNvSpPr>
            <a:spLocks noGrp="1"/>
          </p:cNvSpPr>
          <p:nvPr>
            <p:ph type="title"/>
          </p:nvPr>
        </p:nvSpPr>
        <p:spPr/>
        <p:txBody>
          <a:bodyPr/>
          <a:lstStyle/>
          <a:p>
            <a:pPr algn="ctr"/>
            <a:r>
              <a:rPr lang="en-US" dirty="0"/>
              <a:t>How do we know what the “right” decisions are?</a:t>
            </a:r>
          </a:p>
        </p:txBody>
      </p:sp>
      <p:sp>
        <p:nvSpPr>
          <p:cNvPr id="2" name="Rectangle 1">
            <a:extLst>
              <a:ext uri="{FF2B5EF4-FFF2-40B4-BE49-F238E27FC236}">
                <a16:creationId xmlns:a16="http://schemas.microsoft.com/office/drawing/2014/main" id="{19B4A025-ED96-6776-C0DC-6EC343DF4B32}"/>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1EC8FD69-2B55-508A-C446-12C6159682C7}"/>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1446270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C28E8-3565-5747-90E5-70F1FDBD7891}"/>
              </a:ext>
            </a:extLst>
          </p:cNvPr>
          <p:cNvSpPr>
            <a:spLocks noGrp="1"/>
          </p:cNvSpPr>
          <p:nvPr>
            <p:ph type="title"/>
          </p:nvPr>
        </p:nvSpPr>
        <p:spPr/>
        <p:txBody>
          <a:bodyPr/>
          <a:lstStyle/>
          <a:p>
            <a:r>
              <a:rPr lang="en-US" dirty="0"/>
              <a:t>Some relevant regulations</a:t>
            </a:r>
          </a:p>
        </p:txBody>
      </p:sp>
      <p:sp>
        <p:nvSpPr>
          <p:cNvPr id="3" name="Content Placeholder 2">
            <a:extLst>
              <a:ext uri="{FF2B5EF4-FFF2-40B4-BE49-F238E27FC236}">
                <a16:creationId xmlns:a16="http://schemas.microsoft.com/office/drawing/2014/main" id="{D1AC4B0F-D33F-734B-84A8-0F1F5B49F481}"/>
              </a:ext>
            </a:extLst>
          </p:cNvPr>
          <p:cNvSpPr>
            <a:spLocks noGrp="1"/>
          </p:cNvSpPr>
          <p:nvPr>
            <p:ph idx="1"/>
          </p:nvPr>
        </p:nvSpPr>
        <p:spPr/>
        <p:txBody>
          <a:bodyPr/>
          <a:lstStyle/>
          <a:p>
            <a:r>
              <a:rPr lang="en-US" dirty="0"/>
              <a:t>Belmont Report for Human Subjects research</a:t>
            </a:r>
          </a:p>
          <a:p>
            <a:endParaRPr lang="en-US" dirty="0"/>
          </a:p>
          <a:p>
            <a:r>
              <a:rPr lang="en-US" dirty="0"/>
              <a:t>HIPAA for medical data</a:t>
            </a:r>
          </a:p>
          <a:p>
            <a:endParaRPr lang="en-US" dirty="0"/>
          </a:p>
          <a:p>
            <a:r>
              <a:rPr lang="en-US" dirty="0"/>
              <a:t>FERPA for student data</a:t>
            </a:r>
          </a:p>
          <a:p>
            <a:endParaRPr lang="en-US" dirty="0"/>
          </a:p>
          <a:p>
            <a:r>
              <a:rPr lang="en-US" dirty="0"/>
              <a:t>GDPR - General Data Protection Regulation </a:t>
            </a:r>
          </a:p>
        </p:txBody>
      </p:sp>
      <p:sp>
        <p:nvSpPr>
          <p:cNvPr id="4" name="Rectangle 3">
            <a:extLst>
              <a:ext uri="{FF2B5EF4-FFF2-40B4-BE49-F238E27FC236}">
                <a16:creationId xmlns:a16="http://schemas.microsoft.com/office/drawing/2014/main" id="{5B45852E-BF95-4B75-FFEF-BB44CEEF0CD4}"/>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3074BF51-B899-0258-7AE1-13686CA69C2B}"/>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511610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B23AD-1F8E-CF46-9190-D890C1309D9D}"/>
              </a:ext>
            </a:extLst>
          </p:cNvPr>
          <p:cNvSpPr>
            <a:spLocks noGrp="1"/>
          </p:cNvSpPr>
          <p:nvPr>
            <p:ph type="title"/>
          </p:nvPr>
        </p:nvSpPr>
        <p:spPr/>
        <p:txBody>
          <a:bodyPr/>
          <a:lstStyle/>
          <a:p>
            <a:r>
              <a:rPr lang="en-US" dirty="0"/>
              <a:t>Belmont Principles (1979)</a:t>
            </a:r>
          </a:p>
        </p:txBody>
      </p:sp>
      <p:sp>
        <p:nvSpPr>
          <p:cNvPr id="3" name="Content Placeholder 2">
            <a:extLst>
              <a:ext uri="{FF2B5EF4-FFF2-40B4-BE49-F238E27FC236}">
                <a16:creationId xmlns:a16="http://schemas.microsoft.com/office/drawing/2014/main" id="{767ECEA4-6277-CE4F-9D1C-69CD43DAE1FC}"/>
              </a:ext>
            </a:extLst>
          </p:cNvPr>
          <p:cNvSpPr>
            <a:spLocks noGrp="1"/>
          </p:cNvSpPr>
          <p:nvPr>
            <p:ph idx="1"/>
          </p:nvPr>
        </p:nvSpPr>
        <p:spPr/>
        <p:txBody>
          <a:bodyPr>
            <a:normAutofit fontScale="85000" lnSpcReduction="20000"/>
          </a:bodyPr>
          <a:lstStyle/>
          <a:p>
            <a:r>
              <a:rPr lang="en-US" dirty="0"/>
              <a:t>The three fundamental ethical principles for using any human subjects for research are:</a:t>
            </a:r>
          </a:p>
          <a:p>
            <a:endParaRPr lang="en-US" dirty="0"/>
          </a:p>
          <a:p>
            <a:r>
              <a:rPr lang="en-US" b="1" dirty="0"/>
              <a:t>Respect for persons</a:t>
            </a:r>
            <a:r>
              <a:rPr lang="en-US" dirty="0"/>
              <a:t>: protecting the autonomy of all people and treating them with courtesy and respect and allowing for </a:t>
            </a:r>
            <a:r>
              <a:rPr lang="en-US" b="1" dirty="0"/>
              <a:t>informed consent</a:t>
            </a:r>
            <a:r>
              <a:rPr lang="en-US" dirty="0"/>
              <a:t>. Researchers must be truthful and conduct no deception;</a:t>
            </a:r>
          </a:p>
          <a:p>
            <a:r>
              <a:rPr lang="en-US" b="1" dirty="0"/>
              <a:t>Beneficence</a:t>
            </a:r>
            <a:r>
              <a:rPr lang="en-US" dirty="0"/>
              <a:t>: The philosophy of "Do no harm" while maximizing benefits for the research project and </a:t>
            </a:r>
            <a:r>
              <a:rPr lang="en-US" b="1" dirty="0"/>
              <a:t>minimizing risks</a:t>
            </a:r>
            <a:r>
              <a:rPr lang="en-US" dirty="0"/>
              <a:t> to the research subjects</a:t>
            </a:r>
          </a:p>
          <a:p>
            <a:r>
              <a:rPr lang="en-US" b="1" dirty="0"/>
              <a:t>Justice</a:t>
            </a:r>
            <a:r>
              <a:rPr lang="en-US" dirty="0"/>
              <a:t>: ensuring reasonable, </a:t>
            </a:r>
            <a:r>
              <a:rPr lang="en-US" b="1" dirty="0"/>
              <a:t>non-exploitative</a:t>
            </a:r>
            <a:r>
              <a:rPr lang="en-US" dirty="0"/>
              <a:t>, and well-considered procedures are administered fairly — the fair distribution of costs and benefits to potential research participants — and equally.</a:t>
            </a:r>
          </a:p>
          <a:p>
            <a:endParaRPr lang="en-US" dirty="0"/>
          </a:p>
          <a:p>
            <a:r>
              <a:rPr lang="en-US" dirty="0"/>
              <a:t>This is the foundation for modern Institutional Review Boards (IRBs)</a:t>
            </a:r>
          </a:p>
        </p:txBody>
      </p:sp>
      <p:sp>
        <p:nvSpPr>
          <p:cNvPr id="4" name="Rectangle 3">
            <a:extLst>
              <a:ext uri="{FF2B5EF4-FFF2-40B4-BE49-F238E27FC236}">
                <a16:creationId xmlns:a16="http://schemas.microsoft.com/office/drawing/2014/main" id="{C1CD3E9C-865F-0FAB-249D-2D63A33FBB9A}"/>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38069826-0569-0942-3C9B-D731F0BEF022}"/>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3155356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CF8B6-EEB0-6F45-B6C1-685C238CDFA4}"/>
              </a:ext>
            </a:extLst>
          </p:cNvPr>
          <p:cNvSpPr>
            <a:spLocks noGrp="1"/>
          </p:cNvSpPr>
          <p:nvPr>
            <p:ph type="title"/>
          </p:nvPr>
        </p:nvSpPr>
        <p:spPr/>
        <p:txBody>
          <a:bodyPr/>
          <a:lstStyle/>
          <a:p>
            <a:r>
              <a:rPr lang="en-US" dirty="0"/>
              <a:t>GDPR - General Data Protection Regulation</a:t>
            </a:r>
          </a:p>
        </p:txBody>
      </p:sp>
      <p:sp>
        <p:nvSpPr>
          <p:cNvPr id="3" name="Content Placeholder 2">
            <a:extLst>
              <a:ext uri="{FF2B5EF4-FFF2-40B4-BE49-F238E27FC236}">
                <a16:creationId xmlns:a16="http://schemas.microsoft.com/office/drawing/2014/main" id="{DE0E3CC9-A37E-9941-9B4D-5874AD60DBF3}"/>
              </a:ext>
            </a:extLst>
          </p:cNvPr>
          <p:cNvSpPr>
            <a:spLocks noGrp="1"/>
          </p:cNvSpPr>
          <p:nvPr>
            <p:ph idx="1"/>
          </p:nvPr>
        </p:nvSpPr>
        <p:spPr>
          <a:xfrm>
            <a:off x="838200" y="1542197"/>
            <a:ext cx="10515600" cy="5117910"/>
          </a:xfrm>
        </p:spPr>
        <p:txBody>
          <a:bodyPr>
            <a:normAutofit fontScale="92500" lnSpcReduction="20000"/>
          </a:bodyPr>
          <a:lstStyle/>
          <a:p>
            <a:r>
              <a:rPr lang="en-US" dirty="0"/>
              <a:t>EU law on data protection and privacy for all EU citizens</a:t>
            </a:r>
          </a:p>
          <a:p>
            <a:r>
              <a:rPr lang="en-US" dirty="0"/>
              <a:t>Also addresses  the transfer of personal data outside of the EU</a:t>
            </a:r>
          </a:p>
          <a:p>
            <a:r>
              <a:rPr lang="en-US" dirty="0"/>
              <a:t>Adopted 4/14/16, became enforceable 5/25/18</a:t>
            </a:r>
          </a:p>
          <a:p>
            <a:r>
              <a:rPr lang="en-US" dirty="0"/>
              <a:t>Some key requirements:</a:t>
            </a:r>
          </a:p>
          <a:p>
            <a:pPr marL="914400" lvl="1" indent="-457200">
              <a:buAutoNum type="arabicParenR"/>
            </a:pPr>
            <a:r>
              <a:rPr lang="en-US" dirty="0"/>
              <a:t>Lawful, fair, and transparent processing of Personal Data</a:t>
            </a:r>
          </a:p>
          <a:p>
            <a:pPr marL="914400" lvl="1" indent="-457200">
              <a:buAutoNum type="arabicParenR"/>
            </a:pPr>
            <a:r>
              <a:rPr lang="en-US" dirty="0"/>
              <a:t>Limitation of purpose, data, and storage</a:t>
            </a:r>
          </a:p>
          <a:p>
            <a:pPr marL="914400" lvl="1" indent="-457200">
              <a:buAutoNum type="arabicParenR"/>
            </a:pPr>
            <a:r>
              <a:rPr lang="en-US" dirty="0"/>
              <a:t>Subjects have right to know what data is kept, ask for correction, deletion…</a:t>
            </a:r>
          </a:p>
          <a:p>
            <a:pPr marL="914400" lvl="1" indent="-457200">
              <a:buAutoNum type="arabicParenR"/>
            </a:pPr>
            <a:r>
              <a:rPr lang="en-US" dirty="0"/>
              <a:t>Consent: must be documented and can be withdrawn at any time</a:t>
            </a:r>
          </a:p>
          <a:p>
            <a:pPr marL="914400" lvl="1" indent="-457200">
              <a:buAutoNum type="arabicParenR"/>
            </a:pPr>
            <a:r>
              <a:rPr lang="en-US" dirty="0"/>
              <a:t>Privacy by design (ensured by default)</a:t>
            </a:r>
          </a:p>
          <a:p>
            <a:pPr marL="914400" lvl="1" indent="-457200">
              <a:buAutoNum type="arabicParenR"/>
            </a:pPr>
            <a:r>
              <a:rPr lang="en-US" dirty="0"/>
              <a:t>Many other reporting and process requirements</a:t>
            </a:r>
          </a:p>
          <a:p>
            <a:pPr marL="914400" lvl="1" indent="-457200">
              <a:buAutoNum type="arabicParenR"/>
            </a:pPr>
            <a:endParaRPr lang="en-US" dirty="0"/>
          </a:p>
          <a:p>
            <a:r>
              <a:rPr lang="en-US" dirty="0"/>
              <a:t>Penalties: GDPR sets forth fines of up to 10 million euros, or, in the case of an undertaking, up to 2% of its entire global turnover of the preceding fiscal year, whichever is higher.</a:t>
            </a:r>
          </a:p>
        </p:txBody>
      </p:sp>
      <p:sp>
        <p:nvSpPr>
          <p:cNvPr id="6" name="Rectangle 5">
            <a:extLst>
              <a:ext uri="{FF2B5EF4-FFF2-40B4-BE49-F238E27FC236}">
                <a16:creationId xmlns:a16="http://schemas.microsoft.com/office/drawing/2014/main" id="{7A44627E-FC59-E771-587E-B2DBDA184604}"/>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6623994F-2BB0-AFBC-890F-8355DBD15578}"/>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3455109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482596-F540-AB4C-9473-3D39E6EFD4CF}"/>
              </a:ext>
            </a:extLst>
          </p:cNvPr>
          <p:cNvSpPr>
            <a:spLocks noGrp="1"/>
          </p:cNvSpPr>
          <p:nvPr>
            <p:ph type="title"/>
          </p:nvPr>
        </p:nvSpPr>
        <p:spPr/>
        <p:txBody>
          <a:bodyPr/>
          <a:lstStyle/>
          <a:p>
            <a:pPr algn="ctr"/>
            <a:r>
              <a:rPr lang="en-US" dirty="0"/>
              <a:t>It isn’t always cut-and-dry…</a:t>
            </a:r>
          </a:p>
        </p:txBody>
      </p:sp>
      <p:sp>
        <p:nvSpPr>
          <p:cNvPr id="2" name="Rectangle 1">
            <a:extLst>
              <a:ext uri="{FF2B5EF4-FFF2-40B4-BE49-F238E27FC236}">
                <a16:creationId xmlns:a16="http://schemas.microsoft.com/office/drawing/2014/main" id="{19B4A025-ED96-6776-C0DC-6EC343DF4B32}"/>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1EC8FD69-2B55-508A-C446-12C6159682C7}"/>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1081788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404F7-A949-DD41-8268-8BC7C9651020}"/>
              </a:ext>
            </a:extLst>
          </p:cNvPr>
          <p:cNvSpPr>
            <a:spLocks noGrp="1"/>
          </p:cNvSpPr>
          <p:nvPr>
            <p:ph type="title"/>
          </p:nvPr>
        </p:nvSpPr>
        <p:spPr>
          <a:xfrm>
            <a:off x="838200" y="365126"/>
            <a:ext cx="10515600" cy="399150"/>
          </a:xfrm>
        </p:spPr>
        <p:txBody>
          <a:bodyPr>
            <a:normAutofit fontScale="90000"/>
          </a:bodyPr>
          <a:lstStyle/>
          <a:p>
            <a:r>
              <a:rPr lang="en-US" dirty="0"/>
              <a:t>The Right to be Forgotten</a:t>
            </a:r>
          </a:p>
        </p:txBody>
      </p:sp>
      <p:sp>
        <p:nvSpPr>
          <p:cNvPr id="3" name="Content Placeholder 2">
            <a:extLst>
              <a:ext uri="{FF2B5EF4-FFF2-40B4-BE49-F238E27FC236}">
                <a16:creationId xmlns:a16="http://schemas.microsoft.com/office/drawing/2014/main" id="{3C359325-B470-7249-9C10-3C40E8954279}"/>
              </a:ext>
            </a:extLst>
          </p:cNvPr>
          <p:cNvSpPr>
            <a:spLocks noGrp="1"/>
          </p:cNvSpPr>
          <p:nvPr>
            <p:ph idx="1"/>
          </p:nvPr>
        </p:nvSpPr>
        <p:spPr>
          <a:xfrm>
            <a:off x="938322" y="1558497"/>
            <a:ext cx="9387206" cy="4351338"/>
          </a:xfrm>
        </p:spPr>
        <p:txBody>
          <a:bodyPr/>
          <a:lstStyle/>
          <a:p>
            <a:r>
              <a:rPr lang="en-US" dirty="0"/>
              <a:t>Every company doing business in the EU has to worry about GDPR.</a:t>
            </a:r>
          </a:p>
          <a:p>
            <a:endParaRPr lang="en-US" dirty="0"/>
          </a:p>
          <a:p>
            <a:r>
              <a:rPr lang="en-US" dirty="0"/>
              <a:t>Courts in the E. U. support the notion that factual reporting can be suppressed (at the search-engine level) to prevent reputational harm.</a:t>
            </a:r>
          </a:p>
        </p:txBody>
      </p:sp>
      <p:sp>
        <p:nvSpPr>
          <p:cNvPr id="4" name="Rectangle 3">
            <a:extLst>
              <a:ext uri="{FF2B5EF4-FFF2-40B4-BE49-F238E27FC236}">
                <a16:creationId xmlns:a16="http://schemas.microsoft.com/office/drawing/2014/main" id="{C9E94452-1957-F644-A731-288B9EA15E8A}"/>
              </a:ext>
            </a:extLst>
          </p:cNvPr>
          <p:cNvSpPr/>
          <p:nvPr/>
        </p:nvSpPr>
        <p:spPr>
          <a:xfrm>
            <a:off x="1311667" y="4699338"/>
            <a:ext cx="6096000" cy="1200329"/>
          </a:xfrm>
          <a:prstGeom prst="rect">
            <a:avLst/>
          </a:prstGeom>
        </p:spPr>
        <p:txBody>
          <a:bodyPr>
            <a:spAutoFit/>
          </a:bodyPr>
          <a:lstStyle/>
          <a:p>
            <a:r>
              <a:rPr lang="en-US" dirty="0"/>
              <a:t>in 2009 when Mario Costeja, a Spanish lawyer, complained that entering his name in Google led to legal notices dating to 1998 in an online version of a Spanish newspaper that detailed his debts and the forced sale of his property.</a:t>
            </a:r>
          </a:p>
        </p:txBody>
      </p:sp>
      <p:pic>
        <p:nvPicPr>
          <p:cNvPr id="1026" name="Picture 2" descr="What is the &amp;#39;right to be forgotten&amp;#39;? - BBC News">
            <a:extLst>
              <a:ext uri="{FF2B5EF4-FFF2-40B4-BE49-F238E27FC236}">
                <a16:creationId xmlns:a16="http://schemas.microsoft.com/office/drawing/2014/main" id="{4E7AD603-24DA-B24B-A7DC-0176892F3B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5866" y="4191856"/>
            <a:ext cx="4466133" cy="25122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EA65873-95E1-43E5-DAF0-521596FEA9E1}"/>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D851AC69-5D3F-91B9-AA3A-4435CEC0C19F}"/>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2787059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418F1-3946-3B4D-98C2-4C1C24BFD88D}"/>
              </a:ext>
            </a:extLst>
          </p:cNvPr>
          <p:cNvSpPr>
            <a:spLocks noGrp="1"/>
          </p:cNvSpPr>
          <p:nvPr>
            <p:ph type="title"/>
          </p:nvPr>
        </p:nvSpPr>
        <p:spPr/>
        <p:txBody>
          <a:bodyPr/>
          <a:lstStyle/>
          <a:p>
            <a:r>
              <a:rPr lang="en-US" dirty="0"/>
              <a:t>(de-)Anonymization or (re-)Identification)</a:t>
            </a:r>
          </a:p>
        </p:txBody>
      </p:sp>
      <p:sp>
        <p:nvSpPr>
          <p:cNvPr id="3" name="Content Placeholder 2">
            <a:extLst>
              <a:ext uri="{FF2B5EF4-FFF2-40B4-BE49-F238E27FC236}">
                <a16:creationId xmlns:a16="http://schemas.microsoft.com/office/drawing/2014/main" id="{C98EDB05-EB37-D04C-BD3E-3170CFEAC238}"/>
              </a:ext>
            </a:extLst>
          </p:cNvPr>
          <p:cNvSpPr>
            <a:spLocks noGrp="1"/>
          </p:cNvSpPr>
          <p:nvPr>
            <p:ph idx="1"/>
          </p:nvPr>
        </p:nvSpPr>
        <p:spPr/>
        <p:txBody>
          <a:bodyPr/>
          <a:lstStyle/>
          <a:p>
            <a:r>
              <a:rPr lang="en-US" dirty="0"/>
              <a:t>Most regulations address </a:t>
            </a:r>
            <a:r>
              <a:rPr lang="en-US" b="1" dirty="0"/>
              <a:t>PII</a:t>
            </a:r>
            <a:r>
              <a:rPr lang="en-US" dirty="0"/>
              <a:t> – Personally Identifiable Information</a:t>
            </a:r>
          </a:p>
          <a:p>
            <a:pPr lvl="1"/>
            <a:r>
              <a:rPr lang="en-US" dirty="0"/>
              <a:t>Name, Social Security Number, Employee Id, …</a:t>
            </a:r>
          </a:p>
          <a:p>
            <a:r>
              <a:rPr lang="en-US" dirty="0"/>
              <a:t>Combination of </a:t>
            </a:r>
            <a:r>
              <a:rPr lang="en-US" b="1" dirty="0"/>
              <a:t>zip code, birth date</a:t>
            </a:r>
            <a:r>
              <a:rPr lang="en-US" dirty="0"/>
              <a:t> and </a:t>
            </a:r>
            <a:r>
              <a:rPr lang="en-US" b="1" dirty="0"/>
              <a:t>sex</a:t>
            </a:r>
            <a:r>
              <a:rPr lang="en-US" dirty="0"/>
              <a:t>, uniquely identifies about 87% of Americans</a:t>
            </a:r>
          </a:p>
          <a:p>
            <a:pPr lvl="1"/>
            <a:r>
              <a:rPr lang="en-US" dirty="0"/>
              <a:t>“In 1997 Latanya Sweeney dramatically demonstrated that supposedly anonymized data was not anonymous. The state of Massachusetts had released data on 135,000 state employees and their families with obvious identifiers removed. However, the data contained zip code, birth date, and sex for each individual. Sweeney was able to cross reference this data with publicly available voter registration data to </a:t>
            </a:r>
            <a:r>
              <a:rPr lang="en-US" b="1" dirty="0"/>
              <a:t>find the medical records of then Massachusetts governor William Weld</a:t>
            </a:r>
            <a:r>
              <a:rPr lang="en-US" dirty="0"/>
              <a:t>.”</a:t>
            </a:r>
          </a:p>
        </p:txBody>
      </p:sp>
      <p:sp>
        <p:nvSpPr>
          <p:cNvPr id="4" name="Rectangle 3">
            <a:extLst>
              <a:ext uri="{FF2B5EF4-FFF2-40B4-BE49-F238E27FC236}">
                <a16:creationId xmlns:a16="http://schemas.microsoft.com/office/drawing/2014/main" id="{8C23DF26-76B3-C357-6D1A-04C1044F6679}"/>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D1C251F9-BFB8-AC08-BD3D-EC00371C5816}"/>
              </a:ext>
            </a:extLst>
          </p:cNvPr>
          <p:cNvSpPr txBox="1"/>
          <p:nvPr/>
        </p:nvSpPr>
        <p:spPr>
          <a:xfrm>
            <a:off x="5530781" y="6476240"/>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42149041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A778C-812F-454E-A07D-76177672FA27}"/>
              </a:ext>
            </a:extLst>
          </p:cNvPr>
          <p:cNvSpPr>
            <a:spLocks noGrp="1"/>
          </p:cNvSpPr>
          <p:nvPr>
            <p:ph type="title"/>
          </p:nvPr>
        </p:nvSpPr>
        <p:spPr/>
        <p:txBody>
          <a:bodyPr/>
          <a:lstStyle/>
          <a:p>
            <a:r>
              <a:rPr lang="en-US" dirty="0"/>
              <a:t>Another real-world example</a:t>
            </a:r>
          </a:p>
        </p:txBody>
      </p:sp>
      <p:sp>
        <p:nvSpPr>
          <p:cNvPr id="3" name="Content Placeholder 2">
            <a:extLst>
              <a:ext uri="{FF2B5EF4-FFF2-40B4-BE49-F238E27FC236}">
                <a16:creationId xmlns:a16="http://schemas.microsoft.com/office/drawing/2014/main" id="{446258C2-713C-E44F-9193-5088865E5DB5}"/>
              </a:ext>
            </a:extLst>
          </p:cNvPr>
          <p:cNvSpPr>
            <a:spLocks noGrp="1"/>
          </p:cNvSpPr>
          <p:nvPr>
            <p:ph idx="1"/>
          </p:nvPr>
        </p:nvSpPr>
        <p:spPr>
          <a:xfrm>
            <a:off x="838200" y="1825624"/>
            <a:ext cx="5840896" cy="5032375"/>
          </a:xfrm>
        </p:spPr>
        <p:txBody>
          <a:bodyPr>
            <a:normAutofit fontScale="92500" lnSpcReduction="20000"/>
          </a:bodyPr>
          <a:lstStyle/>
          <a:p>
            <a:r>
              <a:rPr lang="en-US" dirty="0"/>
              <a:t>Netflix Prize (anonymized data)</a:t>
            </a:r>
          </a:p>
          <a:p>
            <a:r>
              <a:rPr lang="en-US" dirty="0" err="1"/>
              <a:t>User_ID</a:t>
            </a:r>
            <a:r>
              <a:rPr lang="en-US" dirty="0"/>
              <a:t>(anonymized), Movie, Ratings, Date</a:t>
            </a:r>
          </a:p>
          <a:p>
            <a:r>
              <a:rPr lang="en-US" dirty="0"/>
              <a:t>Merge with data from IMDb</a:t>
            </a:r>
          </a:p>
          <a:p>
            <a:r>
              <a:rPr lang="en-US" dirty="0"/>
              <a:t>With only a few ratings, user could be linked across the two systems</a:t>
            </a:r>
          </a:p>
          <a:p>
            <a:r>
              <a:rPr lang="en-US" dirty="0"/>
              <a:t>Their movie choices could be used to determine apparent political preferences and other potentially sensitive information, even if all their IMDb reviews revealed no such information</a:t>
            </a:r>
          </a:p>
          <a:p>
            <a:r>
              <a:rPr lang="en-US" dirty="0"/>
              <a:t>Lawsuit… can’t put the data back in the bag… Netflix doesn’t publish this dataset anymore.  </a:t>
            </a:r>
          </a:p>
        </p:txBody>
      </p:sp>
      <p:pic>
        <p:nvPicPr>
          <p:cNvPr id="5" name="Picture 4">
            <a:extLst>
              <a:ext uri="{FF2B5EF4-FFF2-40B4-BE49-F238E27FC236}">
                <a16:creationId xmlns:a16="http://schemas.microsoft.com/office/drawing/2014/main" id="{D741B565-23D2-4240-AD78-E35250188F4D}"/>
              </a:ext>
            </a:extLst>
          </p:cNvPr>
          <p:cNvPicPr>
            <a:picLocks noChangeAspect="1"/>
          </p:cNvPicPr>
          <p:nvPr/>
        </p:nvPicPr>
        <p:blipFill>
          <a:blip r:embed="rId2"/>
          <a:stretch>
            <a:fillRect/>
          </a:stretch>
        </p:blipFill>
        <p:spPr>
          <a:xfrm>
            <a:off x="6869319" y="2118071"/>
            <a:ext cx="5046485" cy="3461923"/>
          </a:xfrm>
          <a:prstGeom prst="rect">
            <a:avLst/>
          </a:prstGeom>
        </p:spPr>
      </p:pic>
      <p:sp>
        <p:nvSpPr>
          <p:cNvPr id="4" name="Rectangle 3">
            <a:extLst>
              <a:ext uri="{FF2B5EF4-FFF2-40B4-BE49-F238E27FC236}">
                <a16:creationId xmlns:a16="http://schemas.microsoft.com/office/drawing/2014/main" id="{80775BF3-03DC-6A3F-4BFD-91416A35396B}"/>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AB31192D-EA3F-AFFB-45AC-8E1D340D84D7}"/>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1444534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701F9-AEC5-024A-ADFB-6580FAC0B22F}"/>
              </a:ext>
            </a:extLst>
          </p:cNvPr>
          <p:cNvSpPr>
            <a:spLocks noGrp="1"/>
          </p:cNvSpPr>
          <p:nvPr>
            <p:ph type="title"/>
          </p:nvPr>
        </p:nvSpPr>
        <p:spPr/>
        <p:txBody>
          <a:bodyPr/>
          <a:lstStyle/>
          <a:p>
            <a:r>
              <a:rPr lang="en-US" dirty="0"/>
              <a:t>Algorithms and Models</a:t>
            </a:r>
          </a:p>
        </p:txBody>
      </p:sp>
      <p:sp>
        <p:nvSpPr>
          <p:cNvPr id="3" name="Content Placeholder 2">
            <a:extLst>
              <a:ext uri="{FF2B5EF4-FFF2-40B4-BE49-F238E27FC236}">
                <a16:creationId xmlns:a16="http://schemas.microsoft.com/office/drawing/2014/main" id="{F7139910-0ABE-CF41-BA31-C9B2CFCDF7C7}"/>
              </a:ext>
            </a:extLst>
          </p:cNvPr>
          <p:cNvSpPr>
            <a:spLocks noGrp="1"/>
          </p:cNvSpPr>
          <p:nvPr>
            <p:ph idx="1"/>
          </p:nvPr>
        </p:nvSpPr>
        <p:spPr>
          <a:xfrm>
            <a:off x="838200" y="1825625"/>
            <a:ext cx="5621493" cy="4351338"/>
          </a:xfrm>
        </p:spPr>
        <p:txBody>
          <a:bodyPr>
            <a:normAutofit fontScale="92500" lnSpcReduction="20000"/>
          </a:bodyPr>
          <a:lstStyle/>
          <a:p>
            <a:r>
              <a:rPr lang="en-US" dirty="0"/>
              <a:t>Fairness and Bias</a:t>
            </a:r>
          </a:p>
          <a:p>
            <a:pPr lvl="1"/>
            <a:r>
              <a:rPr lang="en-US" dirty="0"/>
              <a:t>How can code be unfair or biased?</a:t>
            </a:r>
          </a:p>
          <a:p>
            <a:pPr marL="457200" lvl="1" indent="0">
              <a:buNone/>
            </a:pPr>
            <a:endParaRPr lang="en-US" dirty="0"/>
          </a:p>
          <a:p>
            <a:r>
              <a:rPr lang="en-US" dirty="0"/>
              <a:t>Reproducibility and “P-hacking”</a:t>
            </a:r>
          </a:p>
          <a:p>
            <a:endParaRPr lang="en-US" dirty="0"/>
          </a:p>
          <a:p>
            <a:r>
              <a:rPr lang="en-US" dirty="0"/>
              <a:t>Overfitting</a:t>
            </a:r>
          </a:p>
          <a:p>
            <a:endParaRPr lang="en-US" dirty="0"/>
          </a:p>
          <a:p>
            <a:r>
              <a:rPr lang="en-US" dirty="0"/>
              <a:t>Generalization (esp. for rare-events and long tails)</a:t>
            </a:r>
          </a:p>
          <a:p>
            <a:endParaRPr lang="en-US" dirty="0"/>
          </a:p>
          <a:p>
            <a:r>
              <a:rPr lang="en-US" dirty="0"/>
              <a:t>(lack of) Interpretability</a:t>
            </a:r>
          </a:p>
          <a:p>
            <a:endParaRPr lang="en-US" dirty="0"/>
          </a:p>
          <a:p>
            <a:endParaRPr lang="en-US" dirty="0"/>
          </a:p>
          <a:p>
            <a:endParaRPr lang="en-US" dirty="0"/>
          </a:p>
          <a:p>
            <a:pPr lvl="1"/>
            <a:endParaRPr lang="en-US" dirty="0"/>
          </a:p>
          <a:p>
            <a:pPr lvl="1"/>
            <a:endParaRPr lang="en-US" dirty="0"/>
          </a:p>
        </p:txBody>
      </p:sp>
      <p:pic>
        <p:nvPicPr>
          <p:cNvPr id="5" name="Picture 4">
            <a:extLst>
              <a:ext uri="{FF2B5EF4-FFF2-40B4-BE49-F238E27FC236}">
                <a16:creationId xmlns:a16="http://schemas.microsoft.com/office/drawing/2014/main" id="{46FAD4CF-6720-1442-B3E8-EEC7554BEEE1}"/>
              </a:ext>
            </a:extLst>
          </p:cNvPr>
          <p:cNvPicPr>
            <a:picLocks noChangeAspect="1"/>
          </p:cNvPicPr>
          <p:nvPr/>
        </p:nvPicPr>
        <p:blipFill rotWithShape="1">
          <a:blip r:embed="rId2"/>
          <a:srcRect r="12136"/>
          <a:stretch/>
        </p:blipFill>
        <p:spPr>
          <a:xfrm>
            <a:off x="6459693" y="1340401"/>
            <a:ext cx="5497081" cy="5020641"/>
          </a:xfrm>
          <a:prstGeom prst="rect">
            <a:avLst/>
          </a:prstGeom>
        </p:spPr>
      </p:pic>
      <p:sp>
        <p:nvSpPr>
          <p:cNvPr id="4" name="Rectangle 3">
            <a:extLst>
              <a:ext uri="{FF2B5EF4-FFF2-40B4-BE49-F238E27FC236}">
                <a16:creationId xmlns:a16="http://schemas.microsoft.com/office/drawing/2014/main" id="{A3BC16D6-1DAF-4D67-AAE5-4A8E756C23E6}"/>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8BAD07E9-7F37-061C-8846-EB1B160A1129}"/>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2287437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A822A-E12B-0639-4707-1CED80FE8E83}"/>
              </a:ext>
            </a:extLst>
          </p:cNvPr>
          <p:cNvSpPr>
            <a:spLocks noGrp="1"/>
          </p:cNvSpPr>
          <p:nvPr>
            <p:ph type="title"/>
          </p:nvPr>
        </p:nvSpPr>
        <p:spPr/>
        <p:txBody>
          <a:bodyPr/>
          <a:lstStyle/>
          <a:p>
            <a:r>
              <a:rPr lang="en-US" dirty="0"/>
              <a:t>Case Study – Justice Systems &amp; Algorithms</a:t>
            </a:r>
          </a:p>
        </p:txBody>
      </p:sp>
      <p:sp>
        <p:nvSpPr>
          <p:cNvPr id="3" name="Content Placeholder 2">
            <a:extLst>
              <a:ext uri="{FF2B5EF4-FFF2-40B4-BE49-F238E27FC236}">
                <a16:creationId xmlns:a16="http://schemas.microsoft.com/office/drawing/2014/main" id="{A0E464C8-8FB4-309C-336A-4C066AE4862F}"/>
              </a:ext>
            </a:extLst>
          </p:cNvPr>
          <p:cNvSpPr>
            <a:spLocks noGrp="1"/>
          </p:cNvSpPr>
          <p:nvPr>
            <p:ph idx="1"/>
          </p:nvPr>
        </p:nvSpPr>
        <p:spPr/>
        <p:txBody>
          <a:bodyPr/>
          <a:lstStyle/>
          <a:p>
            <a:r>
              <a:rPr lang="en-US" sz="2800" dirty="0">
                <a:solidFill>
                  <a:srgbClr val="1A1A1A"/>
                </a:solidFill>
              </a:rPr>
              <a:t>Human decision making and judgement has been the hallmark of our current justice system.</a:t>
            </a:r>
            <a:endParaRPr lang="en-US" sz="4000" dirty="0"/>
          </a:p>
          <a:p>
            <a:endParaRPr lang="en-US" dirty="0"/>
          </a:p>
        </p:txBody>
      </p:sp>
      <p:pic>
        <p:nvPicPr>
          <p:cNvPr id="4" name="Google Shape;340;g1a3d72834c5_0_0">
            <a:extLst>
              <a:ext uri="{FF2B5EF4-FFF2-40B4-BE49-F238E27FC236}">
                <a16:creationId xmlns:a16="http://schemas.microsoft.com/office/drawing/2014/main" id="{6B20D1D1-3570-F3DD-2C90-80C16F0D3C1A}"/>
              </a:ext>
            </a:extLst>
          </p:cNvPr>
          <p:cNvPicPr preferRelativeResize="0"/>
          <p:nvPr/>
        </p:nvPicPr>
        <p:blipFill>
          <a:blip r:embed="rId2">
            <a:alphaModFix/>
          </a:blip>
          <a:stretch>
            <a:fillRect/>
          </a:stretch>
        </p:blipFill>
        <p:spPr>
          <a:xfrm>
            <a:off x="4811950" y="2469588"/>
            <a:ext cx="5752288" cy="4116637"/>
          </a:xfrm>
          <a:prstGeom prst="rect">
            <a:avLst/>
          </a:prstGeom>
          <a:noFill/>
          <a:ln>
            <a:noFill/>
          </a:ln>
        </p:spPr>
      </p:pic>
      <p:sp>
        <p:nvSpPr>
          <p:cNvPr id="5" name="Rectangle 4">
            <a:extLst>
              <a:ext uri="{FF2B5EF4-FFF2-40B4-BE49-F238E27FC236}">
                <a16:creationId xmlns:a16="http://schemas.microsoft.com/office/drawing/2014/main" id="{4C35F0ED-2197-A20F-6773-C855DD068E6C}"/>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FC1B3B75-4401-A726-F7E6-417A4FD9951D}"/>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1246715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907A6-F67A-F3FA-4BD5-4519C007D72B}"/>
              </a:ext>
            </a:extLst>
          </p:cNvPr>
          <p:cNvSpPr>
            <a:spLocks noGrp="1"/>
          </p:cNvSpPr>
          <p:nvPr>
            <p:ph type="title"/>
          </p:nvPr>
        </p:nvSpPr>
        <p:spPr/>
        <p:txBody>
          <a:bodyPr/>
          <a:lstStyle/>
          <a:p>
            <a:r>
              <a:rPr lang="en-US" dirty="0"/>
              <a:t>COMPAS Recidivism Prediction</a:t>
            </a:r>
          </a:p>
        </p:txBody>
      </p:sp>
      <p:sp>
        <p:nvSpPr>
          <p:cNvPr id="3" name="Content Placeholder 2">
            <a:extLst>
              <a:ext uri="{FF2B5EF4-FFF2-40B4-BE49-F238E27FC236}">
                <a16:creationId xmlns:a16="http://schemas.microsoft.com/office/drawing/2014/main" id="{6DC72928-15B2-62D7-F74D-E35AC4A39D66}"/>
              </a:ext>
            </a:extLst>
          </p:cNvPr>
          <p:cNvSpPr>
            <a:spLocks noGrp="1"/>
          </p:cNvSpPr>
          <p:nvPr>
            <p:ph idx="1"/>
          </p:nvPr>
        </p:nvSpPr>
        <p:spPr/>
        <p:txBody>
          <a:bodyPr/>
          <a:lstStyle/>
          <a:p>
            <a:pPr marL="0" lvl="1" indent="0">
              <a:lnSpc>
                <a:spcPct val="115000"/>
              </a:lnSpc>
              <a:spcBef>
                <a:spcPts val="1600"/>
              </a:spcBef>
              <a:buSzPts val="1100"/>
              <a:buNone/>
            </a:pPr>
            <a:r>
              <a:rPr lang="en-US" sz="1700" dirty="0">
                <a:solidFill>
                  <a:srgbClr val="1A1A1A"/>
                </a:solidFill>
                <a:latin typeface="Helvetica Neue"/>
                <a:ea typeface="Helvetica Neue"/>
                <a:cs typeface="Helvetica Neue"/>
                <a:sym typeface="Helvetica Neue"/>
              </a:rPr>
              <a:t>How COMPAS works. 1) defendants fills out </a:t>
            </a:r>
            <a:r>
              <a:rPr lang="en-US" sz="1700" dirty="0">
                <a:solidFill>
                  <a:srgbClr val="1A1A1A"/>
                </a:solidFill>
              </a:rPr>
              <a:t>137 question survey</a:t>
            </a:r>
            <a:r>
              <a:rPr lang="en-US" sz="1700" dirty="0">
                <a:solidFill>
                  <a:srgbClr val="1A1A1A"/>
                </a:solidFill>
                <a:latin typeface="Helvetica Neue"/>
                <a:ea typeface="Helvetica Neue"/>
                <a:cs typeface="Helvetica Neue"/>
                <a:sym typeface="Helvetica Neue"/>
              </a:rPr>
              <a:t>. 2) COMPAS software generates </a:t>
            </a:r>
            <a:r>
              <a:rPr lang="en-US" sz="1700" dirty="0">
                <a:solidFill>
                  <a:srgbClr val="1A1A1A"/>
                </a:solidFill>
              </a:rPr>
              <a:t>a score (from 1-10) </a:t>
            </a:r>
            <a:r>
              <a:rPr lang="en-US" sz="1700" dirty="0">
                <a:solidFill>
                  <a:srgbClr val="1A1A1A"/>
                </a:solidFill>
                <a:latin typeface="Helvetica Neue"/>
                <a:ea typeface="Helvetica Neue"/>
                <a:cs typeface="Helvetica Neue"/>
                <a:sym typeface="Helvetica Neue"/>
              </a:rPr>
              <a:t>of “Risk of Recidivism” </a:t>
            </a:r>
            <a:endParaRPr lang="en-US" sz="2500" dirty="0"/>
          </a:p>
          <a:p>
            <a:pPr marL="0" lvl="1" indent="0">
              <a:lnSpc>
                <a:spcPct val="115000"/>
              </a:lnSpc>
              <a:spcBef>
                <a:spcPts val="1600"/>
              </a:spcBef>
              <a:buSzPts val="1100"/>
              <a:buNone/>
            </a:pPr>
            <a:r>
              <a:rPr lang="en-US" sz="1700" dirty="0">
                <a:solidFill>
                  <a:srgbClr val="1A1A1A"/>
                </a:solidFill>
                <a:latin typeface="Helvetica Neue"/>
                <a:ea typeface="Helvetica Neue"/>
                <a:cs typeface="Helvetica Neue"/>
                <a:sym typeface="Helvetica Neue"/>
              </a:rPr>
              <a:t>Analysis of COMPAS found by Larson et al. (2016)</a:t>
            </a:r>
            <a:endParaRPr lang="en-US" sz="2500" dirty="0"/>
          </a:p>
          <a:p>
            <a:pPr indent="-336550">
              <a:lnSpc>
                <a:spcPct val="115000"/>
              </a:lnSpc>
              <a:spcBef>
                <a:spcPts val="1600"/>
              </a:spcBef>
              <a:spcAft>
                <a:spcPts val="1800"/>
              </a:spcAft>
              <a:buClr>
                <a:srgbClr val="1A1A1A"/>
              </a:buClr>
              <a:buSzPts val="1700"/>
              <a:buFont typeface="Helvetica Neue"/>
              <a:buChar char="●"/>
            </a:pPr>
            <a:r>
              <a:rPr lang="en-US" sz="1700" dirty="0">
                <a:solidFill>
                  <a:srgbClr val="1A1A1A"/>
                </a:solidFill>
                <a:latin typeface="Helvetica Neue"/>
                <a:ea typeface="Helvetica Neue"/>
                <a:cs typeface="Helvetica Neue"/>
                <a:sym typeface="Helvetica Neue"/>
              </a:rPr>
              <a:t>Black defendants who did not recidivate over a two-year period were nearly twice as likely to be misclassified as higher risk compared to their white counterparts (45 percent vs. 23 percent)</a:t>
            </a:r>
            <a:endParaRPr lang="en-US" sz="2500" dirty="0"/>
          </a:p>
          <a:p>
            <a:pPr indent="-336550">
              <a:lnSpc>
                <a:spcPct val="115000"/>
              </a:lnSpc>
              <a:spcBef>
                <a:spcPts val="0"/>
              </a:spcBef>
              <a:spcAft>
                <a:spcPts val="1800"/>
              </a:spcAft>
              <a:buClr>
                <a:srgbClr val="1A1A1A"/>
              </a:buClr>
              <a:buSzPts val="1700"/>
              <a:buFont typeface="Helvetica Neue"/>
              <a:buChar char="●"/>
            </a:pPr>
            <a:r>
              <a:rPr lang="en-US" sz="1700" dirty="0">
                <a:solidFill>
                  <a:srgbClr val="1A1A1A"/>
                </a:solidFill>
                <a:latin typeface="Helvetica Neue"/>
                <a:ea typeface="Helvetica Neue"/>
                <a:cs typeface="Helvetica Neue"/>
                <a:sym typeface="Helvetica Neue"/>
              </a:rPr>
              <a:t>White defendants who re-offended within the next two years were mistakenly labeled low risk almost twice as often as black re-offenders (48 percent vs. 28 percent).</a:t>
            </a:r>
            <a:endParaRPr lang="en-US" sz="2500" dirty="0"/>
          </a:p>
          <a:p>
            <a:pPr indent="-336550">
              <a:lnSpc>
                <a:spcPct val="115000"/>
              </a:lnSpc>
              <a:spcBef>
                <a:spcPts val="0"/>
              </a:spcBef>
              <a:spcAft>
                <a:spcPts val="1800"/>
              </a:spcAft>
              <a:buClr>
                <a:srgbClr val="1A1A1A"/>
              </a:buClr>
              <a:buSzPts val="1700"/>
              <a:buFont typeface="Helvetica Neue"/>
              <a:buChar char="●"/>
            </a:pPr>
            <a:r>
              <a:rPr lang="en-US" sz="1700" dirty="0">
                <a:solidFill>
                  <a:srgbClr val="1A1A1A"/>
                </a:solidFill>
                <a:latin typeface="Helvetica Neue"/>
                <a:ea typeface="Helvetica Neue"/>
                <a:cs typeface="Helvetica Neue"/>
                <a:sym typeface="Helvetica Neue"/>
              </a:rPr>
              <a:t>Even when controlling for prior crimes, future recidivism, age, and gender, black defendants were 77 percent more likely to be assigned higher risk scores than white defendants.</a:t>
            </a:r>
            <a:endParaRPr lang="en-US" sz="2500" dirty="0"/>
          </a:p>
          <a:p>
            <a:endParaRPr lang="en-US" dirty="0"/>
          </a:p>
        </p:txBody>
      </p:sp>
      <p:pic>
        <p:nvPicPr>
          <p:cNvPr id="4" name="Google Shape;348;g102eb82f40b_0_36">
            <a:extLst>
              <a:ext uri="{FF2B5EF4-FFF2-40B4-BE49-F238E27FC236}">
                <a16:creationId xmlns:a16="http://schemas.microsoft.com/office/drawing/2014/main" id="{F7EC4A40-6881-B064-B5C7-6BC05AB057B7}"/>
              </a:ext>
            </a:extLst>
          </p:cNvPr>
          <p:cNvPicPr preferRelativeResize="0"/>
          <p:nvPr/>
        </p:nvPicPr>
        <p:blipFill rotWithShape="1">
          <a:blip r:embed="rId2">
            <a:alphaModFix/>
          </a:blip>
          <a:srcRect/>
          <a:stretch/>
        </p:blipFill>
        <p:spPr>
          <a:xfrm>
            <a:off x="7920037" y="186531"/>
            <a:ext cx="4271963" cy="989012"/>
          </a:xfrm>
          <a:prstGeom prst="rect">
            <a:avLst/>
          </a:prstGeom>
          <a:noFill/>
          <a:ln>
            <a:noFill/>
          </a:ln>
        </p:spPr>
      </p:pic>
      <p:sp>
        <p:nvSpPr>
          <p:cNvPr id="5" name="Rectangle 4">
            <a:extLst>
              <a:ext uri="{FF2B5EF4-FFF2-40B4-BE49-F238E27FC236}">
                <a16:creationId xmlns:a16="http://schemas.microsoft.com/office/drawing/2014/main" id="{DF527675-6E46-7BDB-3A4F-1C8E48960E78}"/>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CCF4E708-D9C9-2A84-0FD4-5F6DEA2EC277}"/>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2056682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24177-E813-F2B7-D289-B1A40F9D6E6A}"/>
              </a:ext>
            </a:extLst>
          </p:cNvPr>
          <p:cNvSpPr>
            <a:spLocks noGrp="1"/>
          </p:cNvSpPr>
          <p:nvPr>
            <p:ph type="title"/>
          </p:nvPr>
        </p:nvSpPr>
        <p:spPr/>
        <p:txBody>
          <a:bodyPr/>
          <a:lstStyle/>
          <a:p>
            <a:r>
              <a:rPr lang="en-US" dirty="0"/>
              <a:t>COMPAS Recidivism Prediction</a:t>
            </a:r>
          </a:p>
        </p:txBody>
      </p:sp>
      <p:sp>
        <p:nvSpPr>
          <p:cNvPr id="3" name="Content Placeholder 2">
            <a:extLst>
              <a:ext uri="{FF2B5EF4-FFF2-40B4-BE49-F238E27FC236}">
                <a16:creationId xmlns:a16="http://schemas.microsoft.com/office/drawing/2014/main" id="{34619325-EA23-183D-BC3C-59E8E0EBB601}"/>
              </a:ext>
            </a:extLst>
          </p:cNvPr>
          <p:cNvSpPr>
            <a:spLocks noGrp="1"/>
          </p:cNvSpPr>
          <p:nvPr>
            <p:ph idx="1"/>
          </p:nvPr>
        </p:nvSpPr>
        <p:spPr/>
        <p:txBody>
          <a:bodyPr/>
          <a:lstStyle/>
          <a:p>
            <a:r>
              <a:rPr lang="en-US" sz="2800" dirty="0">
                <a:solidFill>
                  <a:srgbClr val="1A1A1A"/>
                </a:solidFill>
              </a:rPr>
              <a:t>Further salt in the wound… In 2018 a study showed that 20 random people guessing is as accurate as COMPAS</a:t>
            </a:r>
            <a:endParaRPr lang="en-US" sz="2800" dirty="0">
              <a:solidFill>
                <a:srgbClr val="1A1A1A"/>
              </a:solidFill>
              <a:latin typeface="Helvetica Neue"/>
              <a:ea typeface="Helvetica Neue"/>
              <a:cs typeface="Helvetica Neue"/>
              <a:sym typeface="Helvetica Neue"/>
            </a:endParaRPr>
          </a:p>
          <a:p>
            <a:endParaRPr lang="en-US" dirty="0"/>
          </a:p>
        </p:txBody>
      </p:sp>
      <p:pic>
        <p:nvPicPr>
          <p:cNvPr id="4" name="Google Shape;356;g102eb82f40b_0_211">
            <a:extLst>
              <a:ext uri="{FF2B5EF4-FFF2-40B4-BE49-F238E27FC236}">
                <a16:creationId xmlns:a16="http://schemas.microsoft.com/office/drawing/2014/main" id="{86148EFC-D7ED-3877-D6C5-F74A8D7B2B96}"/>
              </a:ext>
            </a:extLst>
          </p:cNvPr>
          <p:cNvPicPr preferRelativeResize="0"/>
          <p:nvPr/>
        </p:nvPicPr>
        <p:blipFill rotWithShape="1">
          <a:blip r:embed="rId2">
            <a:alphaModFix/>
          </a:blip>
          <a:srcRect/>
          <a:stretch/>
        </p:blipFill>
        <p:spPr>
          <a:xfrm>
            <a:off x="6366788" y="3589615"/>
            <a:ext cx="4296349" cy="2411000"/>
          </a:xfrm>
          <a:prstGeom prst="rect">
            <a:avLst/>
          </a:prstGeom>
          <a:noFill/>
          <a:ln>
            <a:noFill/>
          </a:ln>
        </p:spPr>
      </p:pic>
      <p:pic>
        <p:nvPicPr>
          <p:cNvPr id="5" name="Google Shape;357;g102eb82f40b_0_211">
            <a:extLst>
              <a:ext uri="{FF2B5EF4-FFF2-40B4-BE49-F238E27FC236}">
                <a16:creationId xmlns:a16="http://schemas.microsoft.com/office/drawing/2014/main" id="{8C172F4E-F073-F519-4CDF-A6217DB151E8}"/>
              </a:ext>
            </a:extLst>
          </p:cNvPr>
          <p:cNvPicPr preferRelativeResize="0"/>
          <p:nvPr/>
        </p:nvPicPr>
        <p:blipFill rotWithShape="1">
          <a:blip r:embed="rId3">
            <a:alphaModFix/>
          </a:blip>
          <a:srcRect/>
          <a:stretch/>
        </p:blipFill>
        <p:spPr>
          <a:xfrm>
            <a:off x="1467090" y="2997418"/>
            <a:ext cx="4358124" cy="2007751"/>
          </a:xfrm>
          <a:prstGeom prst="rect">
            <a:avLst/>
          </a:prstGeom>
          <a:noFill/>
          <a:ln>
            <a:noFill/>
          </a:ln>
        </p:spPr>
      </p:pic>
      <p:sp>
        <p:nvSpPr>
          <p:cNvPr id="6" name="Rectangle 5">
            <a:extLst>
              <a:ext uri="{FF2B5EF4-FFF2-40B4-BE49-F238E27FC236}">
                <a16:creationId xmlns:a16="http://schemas.microsoft.com/office/drawing/2014/main" id="{DE3D20F5-63F7-1A96-129C-08913AD27227}"/>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1AA4327F-50A6-60EC-898A-AFB63C48FD43}"/>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2295802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EA58D-D15E-DA3C-1F04-EFDDDE13F06F}"/>
              </a:ext>
            </a:extLst>
          </p:cNvPr>
          <p:cNvSpPr>
            <a:spLocks noGrp="1"/>
          </p:cNvSpPr>
          <p:nvPr>
            <p:ph type="title"/>
          </p:nvPr>
        </p:nvSpPr>
        <p:spPr/>
        <p:txBody>
          <a:bodyPr/>
          <a:lstStyle/>
          <a:p>
            <a:r>
              <a:rPr lang="en-US" dirty="0"/>
              <a:t>COMPAS Recidivism Prediction</a:t>
            </a:r>
          </a:p>
        </p:txBody>
      </p:sp>
      <p:sp>
        <p:nvSpPr>
          <p:cNvPr id="3" name="Content Placeholder 2">
            <a:extLst>
              <a:ext uri="{FF2B5EF4-FFF2-40B4-BE49-F238E27FC236}">
                <a16:creationId xmlns:a16="http://schemas.microsoft.com/office/drawing/2014/main" id="{32D92F61-89BA-B7DE-6AFE-FC5D912135B2}"/>
              </a:ext>
            </a:extLst>
          </p:cNvPr>
          <p:cNvSpPr>
            <a:spLocks noGrp="1"/>
          </p:cNvSpPr>
          <p:nvPr>
            <p:ph idx="1"/>
          </p:nvPr>
        </p:nvSpPr>
        <p:spPr/>
        <p:txBody>
          <a:bodyPr/>
          <a:lstStyle/>
          <a:p>
            <a:pPr indent="-342900">
              <a:lnSpc>
                <a:spcPct val="115000"/>
              </a:lnSpc>
              <a:spcBef>
                <a:spcPts val="1600"/>
              </a:spcBef>
              <a:spcAft>
                <a:spcPts val="1800"/>
              </a:spcAft>
              <a:buClr>
                <a:srgbClr val="1A1A1A"/>
              </a:buClr>
              <a:buSzPts val="1800"/>
              <a:buChar char="●"/>
            </a:pPr>
            <a:r>
              <a:rPr lang="en-US" sz="1800" dirty="0">
                <a:solidFill>
                  <a:srgbClr val="1A1A1A"/>
                </a:solidFill>
              </a:rPr>
              <a:t>Turns out COMPAS is really fair by other measures:</a:t>
            </a:r>
          </a:p>
          <a:p>
            <a:pPr lvl="1" indent="-342900">
              <a:lnSpc>
                <a:spcPct val="115000"/>
              </a:lnSpc>
              <a:spcBef>
                <a:spcPts val="0"/>
              </a:spcBef>
              <a:spcAft>
                <a:spcPts val="1800"/>
              </a:spcAft>
              <a:buClr>
                <a:srgbClr val="1A1A1A"/>
              </a:buClr>
              <a:buSzPts val="1800"/>
              <a:buChar char="○"/>
            </a:pPr>
            <a:r>
              <a:rPr lang="en-US" sz="1800" dirty="0">
                <a:solidFill>
                  <a:srgbClr val="1A1A1A"/>
                </a:solidFill>
              </a:rPr>
              <a:t>likelihood of recidivism among high-risk offenders is the same regardless of race (predictive parity), </a:t>
            </a:r>
          </a:p>
          <a:p>
            <a:pPr lvl="1" indent="-342900">
              <a:lnSpc>
                <a:spcPct val="115000"/>
              </a:lnSpc>
              <a:spcBef>
                <a:spcPts val="0"/>
              </a:spcBef>
              <a:spcAft>
                <a:spcPts val="1800"/>
              </a:spcAft>
              <a:buClr>
                <a:srgbClr val="1A1A1A"/>
              </a:buClr>
              <a:buSzPts val="1800"/>
              <a:buChar char="○"/>
            </a:pPr>
            <a:r>
              <a:rPr lang="en-US" sz="1800" dirty="0">
                <a:solidFill>
                  <a:srgbClr val="1A1A1A"/>
                </a:solidFill>
              </a:rPr>
              <a:t>it can discriminate between recidivists and non-recidivists equally well for white and black defendants</a:t>
            </a:r>
          </a:p>
          <a:p>
            <a:pPr indent="-342900">
              <a:lnSpc>
                <a:spcPct val="115000"/>
              </a:lnSpc>
              <a:spcBef>
                <a:spcPts val="0"/>
              </a:spcBef>
              <a:spcAft>
                <a:spcPts val="1800"/>
              </a:spcAft>
              <a:buClr>
                <a:srgbClr val="1A1A1A"/>
              </a:buClr>
              <a:buSzPts val="1800"/>
              <a:buChar char="●"/>
            </a:pPr>
            <a:r>
              <a:rPr lang="en-US" sz="1800" dirty="0">
                <a:solidFill>
                  <a:srgbClr val="1A1A1A"/>
                </a:solidFill>
              </a:rPr>
              <a:t>Turns out there are multiple definitions of fairness and its </a:t>
            </a:r>
            <a:r>
              <a:rPr lang="en-US" sz="1800" dirty="0" err="1">
                <a:solidFill>
                  <a:srgbClr val="1A1A1A"/>
                </a:solidFill>
              </a:rPr>
              <a:t>proveable</a:t>
            </a:r>
            <a:r>
              <a:rPr lang="en-US" sz="1800" dirty="0">
                <a:solidFill>
                  <a:srgbClr val="1A1A1A"/>
                </a:solidFill>
              </a:rPr>
              <a:t> that they are not all mutually satisfiable (Kleinberg et al). </a:t>
            </a:r>
          </a:p>
          <a:p>
            <a:pPr indent="-342900">
              <a:lnSpc>
                <a:spcPct val="115000"/>
              </a:lnSpc>
              <a:spcBef>
                <a:spcPts val="0"/>
              </a:spcBef>
              <a:spcAft>
                <a:spcPts val="1800"/>
              </a:spcAft>
              <a:buClr>
                <a:srgbClr val="1A1A1A"/>
              </a:buClr>
              <a:buSzPts val="1800"/>
              <a:buChar char="●"/>
            </a:pPr>
            <a:r>
              <a:rPr lang="en-US" sz="1800" dirty="0">
                <a:solidFill>
                  <a:srgbClr val="1A1A1A"/>
                </a:solidFill>
              </a:rPr>
              <a:t>Even more… Predicated on a single measure (re-arrest) is problematic</a:t>
            </a:r>
          </a:p>
          <a:p>
            <a:pPr indent="-342900">
              <a:lnSpc>
                <a:spcPct val="115000"/>
              </a:lnSpc>
              <a:spcBef>
                <a:spcPts val="0"/>
              </a:spcBef>
              <a:spcAft>
                <a:spcPts val="1800"/>
              </a:spcAft>
              <a:buClr>
                <a:srgbClr val="1A1A1A"/>
              </a:buClr>
              <a:buSzPts val="1800"/>
              <a:buChar char="●"/>
            </a:pPr>
            <a:r>
              <a:rPr lang="en-US" sz="1800" dirty="0">
                <a:solidFill>
                  <a:srgbClr val="1A1A1A"/>
                </a:solidFill>
              </a:rPr>
              <a:t>Key take away - It’s complicated and should give us pause and reflection on entire system.</a:t>
            </a:r>
          </a:p>
          <a:p>
            <a:endParaRPr lang="en-US" dirty="0"/>
          </a:p>
        </p:txBody>
      </p:sp>
      <p:sp>
        <p:nvSpPr>
          <p:cNvPr id="4" name="Rectangle 3">
            <a:extLst>
              <a:ext uri="{FF2B5EF4-FFF2-40B4-BE49-F238E27FC236}">
                <a16:creationId xmlns:a16="http://schemas.microsoft.com/office/drawing/2014/main" id="{58AB953B-D890-5126-B0EB-D3071AE845B3}"/>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11EF09EC-1003-080B-96F5-C638ED2F4633}"/>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559518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E69C2-5FB8-A54E-83A5-008283F35183}"/>
              </a:ext>
            </a:extLst>
          </p:cNvPr>
          <p:cNvSpPr>
            <a:spLocks noGrp="1"/>
          </p:cNvSpPr>
          <p:nvPr>
            <p:ph type="title"/>
          </p:nvPr>
        </p:nvSpPr>
        <p:spPr/>
        <p:txBody>
          <a:bodyPr/>
          <a:lstStyle/>
          <a:p>
            <a:r>
              <a:rPr lang="en-US" dirty="0"/>
              <a:t>Case Study – Target predictive analytics</a:t>
            </a:r>
          </a:p>
        </p:txBody>
      </p:sp>
      <p:pic>
        <p:nvPicPr>
          <p:cNvPr id="5" name="Content Placeholder 4">
            <a:extLst>
              <a:ext uri="{FF2B5EF4-FFF2-40B4-BE49-F238E27FC236}">
                <a16:creationId xmlns:a16="http://schemas.microsoft.com/office/drawing/2014/main" id="{479F2434-B4D6-A64C-89DC-E4094D16C4A4}"/>
              </a:ext>
            </a:extLst>
          </p:cNvPr>
          <p:cNvPicPr>
            <a:picLocks noGrp="1" noChangeAspect="1"/>
          </p:cNvPicPr>
          <p:nvPr>
            <p:ph idx="1"/>
          </p:nvPr>
        </p:nvPicPr>
        <p:blipFill>
          <a:blip r:embed="rId2"/>
          <a:stretch>
            <a:fillRect/>
          </a:stretch>
        </p:blipFill>
        <p:spPr>
          <a:xfrm>
            <a:off x="2875793" y="1825625"/>
            <a:ext cx="6440413" cy="4351338"/>
          </a:xfrm>
        </p:spPr>
      </p:pic>
      <p:sp>
        <p:nvSpPr>
          <p:cNvPr id="3" name="Rectangle 2">
            <a:extLst>
              <a:ext uri="{FF2B5EF4-FFF2-40B4-BE49-F238E27FC236}">
                <a16:creationId xmlns:a16="http://schemas.microsoft.com/office/drawing/2014/main" id="{D5AB5B77-339D-421D-A848-1332E8064E54}"/>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Box 3">
            <a:extLst>
              <a:ext uri="{FF2B5EF4-FFF2-40B4-BE49-F238E27FC236}">
                <a16:creationId xmlns:a16="http://schemas.microsoft.com/office/drawing/2014/main" id="{A87CA20E-4756-5254-C1BD-8CDF2E3D0805}"/>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620859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a:t>Do decisionmakers understand what the analysis is doing?</a:t>
            </a:r>
          </a:p>
          <a:p>
            <a:endParaRPr lang="en-US" dirty="0"/>
          </a:p>
          <a:p>
            <a:r>
              <a:rPr lang="en-US" dirty="0"/>
              <a:t>Do action-takers understand the trust understand why they’re getting the recommendations they’re getting?  </a:t>
            </a:r>
          </a:p>
          <a:p>
            <a:endParaRPr lang="en-US" dirty="0"/>
          </a:p>
          <a:p>
            <a:r>
              <a:rPr lang="en-US" dirty="0"/>
              <a:t>Do the people being acted on understand why?</a:t>
            </a:r>
          </a:p>
          <a:p>
            <a:endParaRPr lang="en-US" dirty="0"/>
          </a:p>
          <a:p>
            <a:r>
              <a:rPr lang="en-US" dirty="0"/>
              <a:t>People make all political decisions.  What does it mean when people point at a machine and shrug “we don’t know” ? </a:t>
            </a:r>
          </a:p>
          <a:p>
            <a:endParaRPr lang="en-US" dirty="0"/>
          </a:p>
          <a:p>
            <a:endParaRPr lang="en-US" dirty="0"/>
          </a:p>
        </p:txBody>
      </p:sp>
      <p:sp>
        <p:nvSpPr>
          <p:cNvPr id="3" name="Title 2"/>
          <p:cNvSpPr>
            <a:spLocks noGrp="1"/>
          </p:cNvSpPr>
          <p:nvPr>
            <p:ph type="title"/>
          </p:nvPr>
        </p:nvSpPr>
        <p:spPr/>
        <p:txBody>
          <a:bodyPr/>
          <a:lstStyle/>
          <a:p>
            <a:r>
              <a:rPr lang="en-US" dirty="0"/>
              <a:t>Trustworthiness and Accountability </a:t>
            </a:r>
          </a:p>
        </p:txBody>
      </p:sp>
      <p:sp>
        <p:nvSpPr>
          <p:cNvPr id="4" name="Rectangle 3">
            <a:extLst>
              <a:ext uri="{FF2B5EF4-FFF2-40B4-BE49-F238E27FC236}">
                <a16:creationId xmlns:a16="http://schemas.microsoft.com/office/drawing/2014/main" id="{B5BBA842-BD72-D1DF-E65B-A9138CBDDDF2}"/>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B902B05E-24ED-EB26-FE76-7E2FD569F810}"/>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1510134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825624"/>
            <a:ext cx="10515600" cy="4261667"/>
          </a:xfrm>
        </p:spPr>
        <p:txBody>
          <a:bodyPr>
            <a:normAutofit fontScale="92500"/>
          </a:bodyPr>
          <a:lstStyle/>
          <a:p>
            <a:r>
              <a:rPr lang="en-US" dirty="0"/>
              <a:t>Who is accountable for the actions?</a:t>
            </a:r>
          </a:p>
          <a:p>
            <a:endParaRPr lang="en-US" dirty="0"/>
          </a:p>
          <a:p>
            <a:r>
              <a:rPr lang="en-US" dirty="0"/>
              <a:t>Who is coming up with the values encoded in the system?</a:t>
            </a:r>
          </a:p>
          <a:p>
            <a:endParaRPr lang="en-US" dirty="0"/>
          </a:p>
          <a:p>
            <a:r>
              <a:rPr lang="en-US" dirty="0"/>
              <a:t>How is the tradeoff between false positive and false negatives being set?</a:t>
            </a:r>
          </a:p>
          <a:p>
            <a:endParaRPr lang="en-US" dirty="0"/>
          </a:p>
          <a:p>
            <a:r>
              <a:rPr lang="en-US" dirty="0"/>
              <a:t>If you are harmed, and try to bring legal action against the entity that harmed you, how do you confront your accuser if your accuser is private historical data + trade-secret algorithm? </a:t>
            </a:r>
          </a:p>
        </p:txBody>
      </p:sp>
      <p:sp>
        <p:nvSpPr>
          <p:cNvPr id="3" name="Title 2"/>
          <p:cNvSpPr>
            <a:spLocks noGrp="1"/>
          </p:cNvSpPr>
          <p:nvPr>
            <p:ph type="title"/>
          </p:nvPr>
        </p:nvSpPr>
        <p:spPr/>
        <p:txBody>
          <a:bodyPr/>
          <a:lstStyle/>
          <a:p>
            <a:r>
              <a:rPr lang="en-US" dirty="0"/>
              <a:t>Trustworthiness and Accountability </a:t>
            </a:r>
          </a:p>
        </p:txBody>
      </p:sp>
      <p:sp>
        <p:nvSpPr>
          <p:cNvPr id="4" name="Rectangle 3">
            <a:extLst>
              <a:ext uri="{FF2B5EF4-FFF2-40B4-BE49-F238E27FC236}">
                <a16:creationId xmlns:a16="http://schemas.microsoft.com/office/drawing/2014/main" id="{787446DD-66BC-562B-4179-B18BE9981836}"/>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82C83FC1-9F53-71C4-E3B6-F482C98F74EC}"/>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192882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825624"/>
            <a:ext cx="10515600" cy="5032375"/>
          </a:xfrm>
        </p:spPr>
        <p:txBody>
          <a:bodyPr>
            <a:normAutofit/>
          </a:bodyPr>
          <a:lstStyle/>
          <a:p>
            <a:r>
              <a:rPr lang="en-US" dirty="0"/>
              <a:t>It is straightforward to measure incidence, severity, and outcomes of disease by racial category.   Facts of this sort fill the medical literature.</a:t>
            </a:r>
          </a:p>
          <a:p>
            <a:endParaRPr lang="en-US" dirty="0"/>
          </a:p>
          <a:p>
            <a:endParaRPr lang="en-US" dirty="0"/>
          </a:p>
          <a:p>
            <a:endParaRPr lang="en-US" dirty="0"/>
          </a:p>
          <a:p>
            <a:endParaRPr lang="en-US" dirty="0"/>
          </a:p>
          <a:p>
            <a:r>
              <a:rPr lang="en-US" dirty="0"/>
              <a:t>What do you do with this knowledge?  </a:t>
            </a:r>
          </a:p>
          <a:p>
            <a:r>
              <a:rPr lang="en-US" dirty="0"/>
              <a:t>Do you want to use race in scoring disease severity / choosing treatment?</a:t>
            </a:r>
          </a:p>
          <a:p>
            <a:endParaRPr lang="en-US" dirty="0"/>
          </a:p>
        </p:txBody>
      </p:sp>
      <p:sp>
        <p:nvSpPr>
          <p:cNvPr id="3" name="Title 2"/>
          <p:cNvSpPr>
            <a:spLocks noGrp="1"/>
          </p:cNvSpPr>
          <p:nvPr>
            <p:ph type="title"/>
          </p:nvPr>
        </p:nvSpPr>
        <p:spPr/>
        <p:txBody>
          <a:bodyPr/>
          <a:lstStyle/>
          <a:p>
            <a:r>
              <a:rPr lang="en-US" dirty="0"/>
              <a:t>Race in medicine</a:t>
            </a:r>
          </a:p>
        </p:txBody>
      </p:sp>
      <p:pic>
        <p:nvPicPr>
          <p:cNvPr id="5" name="Picture 4" descr="Table&#10;&#10;Description automatically generated">
            <a:extLst>
              <a:ext uri="{FF2B5EF4-FFF2-40B4-BE49-F238E27FC236}">
                <a16:creationId xmlns:a16="http://schemas.microsoft.com/office/drawing/2014/main" id="{91387177-06A6-574D-9528-D9500071B869}"/>
              </a:ext>
            </a:extLst>
          </p:cNvPr>
          <p:cNvPicPr>
            <a:picLocks noChangeAspect="1"/>
          </p:cNvPicPr>
          <p:nvPr/>
        </p:nvPicPr>
        <p:blipFill>
          <a:blip r:embed="rId2"/>
          <a:stretch>
            <a:fillRect/>
          </a:stretch>
        </p:blipFill>
        <p:spPr>
          <a:xfrm>
            <a:off x="1301663" y="2597674"/>
            <a:ext cx="8067805" cy="2196395"/>
          </a:xfrm>
          <a:prstGeom prst="rect">
            <a:avLst/>
          </a:prstGeom>
        </p:spPr>
      </p:pic>
      <p:sp>
        <p:nvSpPr>
          <p:cNvPr id="4" name="Rectangle 3">
            <a:extLst>
              <a:ext uri="{FF2B5EF4-FFF2-40B4-BE49-F238E27FC236}">
                <a16:creationId xmlns:a16="http://schemas.microsoft.com/office/drawing/2014/main" id="{44F5CA76-C51C-B3A9-B7BD-4B27F6B799AF}"/>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1635B937-5A3B-05B8-85D7-F99F1A4AB5CA}"/>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11468402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38200" y="1547978"/>
            <a:ext cx="9821091" cy="4523967"/>
          </a:xfrm>
        </p:spPr>
        <p:txBody>
          <a:bodyPr>
            <a:normAutofit fontScale="92500" lnSpcReduction="20000"/>
          </a:bodyPr>
          <a:lstStyle/>
          <a:p>
            <a:r>
              <a:rPr lang="en-US" dirty="0"/>
              <a:t>Sexual dimorphism introduces variability in medical outcomes.  Researchers hate variability because it masks the (small) effects they need to detect to get promoted.</a:t>
            </a:r>
          </a:p>
          <a:p>
            <a:r>
              <a:rPr lang="en-US" dirty="0"/>
              <a:t>Historically you could get away with recruiting only men for many types of study, resulted in some bad clinical inferences.  “Atypical” heart attack symptoms are more common in women than “typical” heart attack symptoms established from all-male cohort studies.</a:t>
            </a:r>
          </a:p>
          <a:p>
            <a:r>
              <a:rPr lang="en-US" dirty="0"/>
              <a:t>Some ailments affect one sex much more frequently for apparently biological reasons. </a:t>
            </a:r>
          </a:p>
          <a:p>
            <a:r>
              <a:rPr lang="en-US" dirty="0"/>
              <a:t>Disaggregation by sex is always the first step; see if differences are there.</a:t>
            </a:r>
          </a:p>
          <a:p>
            <a:r>
              <a:rPr lang="en-US" dirty="0"/>
              <a:t>Sex-specific normative growth charts for children birth to 12 years are established by the CDC and the WHO.    Which blood labs should be sex-adjusted?  </a:t>
            </a:r>
          </a:p>
          <a:p>
            <a:endParaRPr lang="en-US" dirty="0"/>
          </a:p>
        </p:txBody>
      </p:sp>
      <p:sp>
        <p:nvSpPr>
          <p:cNvPr id="3" name="Title 2"/>
          <p:cNvSpPr>
            <a:spLocks noGrp="1"/>
          </p:cNvSpPr>
          <p:nvPr>
            <p:ph type="title"/>
          </p:nvPr>
        </p:nvSpPr>
        <p:spPr/>
        <p:txBody>
          <a:bodyPr/>
          <a:lstStyle/>
          <a:p>
            <a:r>
              <a:rPr lang="en-US" dirty="0"/>
              <a:t>Sex in medicine</a:t>
            </a:r>
          </a:p>
        </p:txBody>
      </p:sp>
      <p:sp>
        <p:nvSpPr>
          <p:cNvPr id="4" name="Rectangle 3">
            <a:extLst>
              <a:ext uri="{FF2B5EF4-FFF2-40B4-BE49-F238E27FC236}">
                <a16:creationId xmlns:a16="http://schemas.microsoft.com/office/drawing/2014/main" id="{3D431756-CD0C-85BB-5959-BA02D8E72DA6}"/>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1428105B-02F5-FA3C-E2A9-A4F83EBE1DAA}"/>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pic>
        <p:nvPicPr>
          <p:cNvPr id="6" name="Picture 4" descr="Invisible Women: Data Bias in a World ...">
            <a:extLst>
              <a:ext uri="{FF2B5EF4-FFF2-40B4-BE49-F238E27FC236}">
                <a16:creationId xmlns:a16="http://schemas.microsoft.com/office/drawing/2014/main" id="{D2FF35BF-7478-6F38-2D0D-E6866A8FDA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5023" y="321744"/>
            <a:ext cx="1626092" cy="2452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27227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6E87611-F1F6-D84B-B2D7-0624D93F301B}"/>
              </a:ext>
            </a:extLst>
          </p:cNvPr>
          <p:cNvSpPr>
            <a:spLocks noGrp="1"/>
          </p:cNvSpPr>
          <p:nvPr>
            <p:ph type="title"/>
          </p:nvPr>
        </p:nvSpPr>
        <p:spPr/>
        <p:txBody>
          <a:bodyPr/>
          <a:lstStyle/>
          <a:p>
            <a:r>
              <a:rPr lang="en-US" dirty="0"/>
              <a:t>Not straightforward</a:t>
            </a:r>
          </a:p>
        </p:txBody>
      </p:sp>
      <p:sp>
        <p:nvSpPr>
          <p:cNvPr id="5" name="Content Placeholder 4">
            <a:extLst>
              <a:ext uri="{FF2B5EF4-FFF2-40B4-BE49-F238E27FC236}">
                <a16:creationId xmlns:a16="http://schemas.microsoft.com/office/drawing/2014/main" id="{F1365D55-223D-B04F-97C1-BF9A30E0F183}"/>
              </a:ext>
            </a:extLst>
          </p:cNvPr>
          <p:cNvSpPr>
            <a:spLocks noGrp="1"/>
          </p:cNvSpPr>
          <p:nvPr>
            <p:ph idx="1"/>
          </p:nvPr>
        </p:nvSpPr>
        <p:spPr/>
        <p:txBody>
          <a:bodyPr/>
          <a:lstStyle/>
          <a:p>
            <a:r>
              <a:rPr lang="en-US" dirty="0"/>
              <a:t>What does fairness mean?</a:t>
            </a:r>
          </a:p>
          <a:p>
            <a:pPr lvl="1"/>
            <a:r>
              <a:rPr lang="en-US" dirty="0"/>
              <a:t>E.g., Kleinberg et al. conflicting notions</a:t>
            </a:r>
          </a:p>
          <a:p>
            <a:pPr lvl="1"/>
            <a:endParaRPr lang="en-US" dirty="0"/>
          </a:p>
          <a:p>
            <a:r>
              <a:rPr lang="en-US" dirty="0"/>
              <a:t>Is privacy more important than right to life or healthcare?</a:t>
            </a:r>
          </a:p>
          <a:p>
            <a:pPr lvl="1"/>
            <a:r>
              <a:rPr lang="en-US" dirty="0"/>
              <a:t>Yours vs. someone else’s?</a:t>
            </a:r>
          </a:p>
          <a:p>
            <a:endParaRPr lang="en-US" dirty="0"/>
          </a:p>
          <a:p>
            <a:r>
              <a:rPr lang="en-US" dirty="0"/>
              <a:t>Is all public data fair game?</a:t>
            </a:r>
          </a:p>
          <a:p>
            <a:pPr lvl="1"/>
            <a:r>
              <a:rPr lang="en-US" dirty="0"/>
              <a:t>For any use?</a:t>
            </a:r>
          </a:p>
        </p:txBody>
      </p:sp>
      <p:sp>
        <p:nvSpPr>
          <p:cNvPr id="2" name="Rectangle 1">
            <a:extLst>
              <a:ext uri="{FF2B5EF4-FFF2-40B4-BE49-F238E27FC236}">
                <a16:creationId xmlns:a16="http://schemas.microsoft.com/office/drawing/2014/main" id="{E24C3E01-2DA6-23A8-A286-4050D6DAF952}"/>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B9AF065D-EB86-0BF6-7897-8079801D65DA}"/>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17154933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9BA25B-B9FE-E94E-B72E-37B371EFDFC9}"/>
              </a:ext>
            </a:extLst>
          </p:cNvPr>
          <p:cNvSpPr>
            <a:spLocks noGrp="1"/>
          </p:cNvSpPr>
          <p:nvPr>
            <p:ph type="title"/>
          </p:nvPr>
        </p:nvSpPr>
        <p:spPr/>
        <p:txBody>
          <a:bodyPr/>
          <a:lstStyle/>
          <a:p>
            <a:r>
              <a:rPr lang="en-US" dirty="0"/>
              <a:t>What to do about it?</a:t>
            </a:r>
          </a:p>
        </p:txBody>
      </p:sp>
      <p:sp>
        <p:nvSpPr>
          <p:cNvPr id="5" name="Text Placeholder 4">
            <a:extLst>
              <a:ext uri="{FF2B5EF4-FFF2-40B4-BE49-F238E27FC236}">
                <a16:creationId xmlns:a16="http://schemas.microsoft.com/office/drawing/2014/main" id="{E931F71E-BBE0-3841-A0AF-D284A35C652B}"/>
              </a:ext>
            </a:extLst>
          </p:cNvPr>
          <p:cNvSpPr>
            <a:spLocks noGrp="1"/>
          </p:cNvSpPr>
          <p:nvPr>
            <p:ph type="body" idx="1"/>
          </p:nvPr>
        </p:nvSpPr>
        <p:spPr/>
        <p:txBody>
          <a:bodyPr/>
          <a:lstStyle/>
          <a:p>
            <a:endParaRPr lang="en-US"/>
          </a:p>
        </p:txBody>
      </p:sp>
      <p:sp>
        <p:nvSpPr>
          <p:cNvPr id="2" name="Rectangle 1">
            <a:extLst>
              <a:ext uri="{FF2B5EF4-FFF2-40B4-BE49-F238E27FC236}">
                <a16:creationId xmlns:a16="http://schemas.microsoft.com/office/drawing/2014/main" id="{CB80430B-33D0-E4CF-2367-A6BAE823E0BA}"/>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0224648D-B310-34C2-C8DB-DDE77C196D70}"/>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3339053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CFE9D27-FDD3-804F-B977-2873625FD12E}"/>
              </a:ext>
            </a:extLst>
          </p:cNvPr>
          <p:cNvSpPr>
            <a:spLocks noGrp="1"/>
          </p:cNvSpPr>
          <p:nvPr>
            <p:ph type="title"/>
          </p:nvPr>
        </p:nvSpPr>
        <p:spPr/>
        <p:txBody>
          <a:bodyPr/>
          <a:lstStyle/>
          <a:p>
            <a:r>
              <a:rPr lang="en-US" dirty="0"/>
              <a:t>Research</a:t>
            </a:r>
          </a:p>
        </p:txBody>
      </p:sp>
      <p:pic>
        <p:nvPicPr>
          <p:cNvPr id="6" name="Picture 5">
            <a:extLst>
              <a:ext uri="{FF2B5EF4-FFF2-40B4-BE49-F238E27FC236}">
                <a16:creationId xmlns:a16="http://schemas.microsoft.com/office/drawing/2014/main" id="{6AA0C8AB-9C9E-C447-9650-8BE29090F094}"/>
              </a:ext>
            </a:extLst>
          </p:cNvPr>
          <p:cNvPicPr>
            <a:picLocks noChangeAspect="1"/>
          </p:cNvPicPr>
          <p:nvPr/>
        </p:nvPicPr>
        <p:blipFill>
          <a:blip r:embed="rId2"/>
          <a:stretch>
            <a:fillRect/>
          </a:stretch>
        </p:blipFill>
        <p:spPr>
          <a:xfrm>
            <a:off x="3435872" y="1345014"/>
            <a:ext cx="5581512" cy="5147861"/>
          </a:xfrm>
          <a:prstGeom prst="rect">
            <a:avLst/>
          </a:prstGeom>
        </p:spPr>
      </p:pic>
      <p:sp>
        <p:nvSpPr>
          <p:cNvPr id="2" name="Rectangle 1">
            <a:extLst>
              <a:ext uri="{FF2B5EF4-FFF2-40B4-BE49-F238E27FC236}">
                <a16:creationId xmlns:a16="http://schemas.microsoft.com/office/drawing/2014/main" id="{0C981300-59C1-74C1-CAC4-2F9A14B0EE83}"/>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17E0E40F-A6DF-424D-10B7-3604F3BADCB1}"/>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31572040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7F741-F0BA-8F41-8973-C7995FD3F1A3}"/>
              </a:ext>
            </a:extLst>
          </p:cNvPr>
          <p:cNvSpPr>
            <a:spLocks noGrp="1"/>
          </p:cNvSpPr>
          <p:nvPr>
            <p:ph type="title"/>
          </p:nvPr>
        </p:nvSpPr>
        <p:spPr/>
        <p:txBody>
          <a:bodyPr/>
          <a:lstStyle/>
          <a:p>
            <a:r>
              <a:rPr lang="en-US" dirty="0"/>
              <a:t>Outreach</a:t>
            </a:r>
          </a:p>
        </p:txBody>
      </p:sp>
      <p:pic>
        <p:nvPicPr>
          <p:cNvPr id="4" name="Picture 3">
            <a:extLst>
              <a:ext uri="{FF2B5EF4-FFF2-40B4-BE49-F238E27FC236}">
                <a16:creationId xmlns:a16="http://schemas.microsoft.com/office/drawing/2014/main" id="{D7E7FEEF-72D7-F445-AE63-971B650838C1}"/>
              </a:ext>
            </a:extLst>
          </p:cNvPr>
          <p:cNvPicPr>
            <a:picLocks noChangeAspect="1"/>
          </p:cNvPicPr>
          <p:nvPr/>
        </p:nvPicPr>
        <p:blipFill>
          <a:blip r:embed="rId2"/>
          <a:stretch>
            <a:fillRect/>
          </a:stretch>
        </p:blipFill>
        <p:spPr>
          <a:xfrm>
            <a:off x="4083372" y="365125"/>
            <a:ext cx="6935924" cy="6292988"/>
          </a:xfrm>
          <a:prstGeom prst="rect">
            <a:avLst/>
          </a:prstGeom>
        </p:spPr>
      </p:pic>
      <p:sp>
        <p:nvSpPr>
          <p:cNvPr id="3" name="Rectangle 2">
            <a:extLst>
              <a:ext uri="{FF2B5EF4-FFF2-40B4-BE49-F238E27FC236}">
                <a16:creationId xmlns:a16="http://schemas.microsoft.com/office/drawing/2014/main" id="{FDE5D5DA-780A-7216-E5F8-6124975C2CC2}"/>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D385BB59-F215-6081-1E1D-8F8C87F67159}"/>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35478787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99E888-EE8A-4E40-97F7-2E9A2E741C36}"/>
              </a:ext>
            </a:extLst>
          </p:cNvPr>
          <p:cNvPicPr>
            <a:picLocks noChangeAspect="1"/>
          </p:cNvPicPr>
          <p:nvPr/>
        </p:nvPicPr>
        <p:blipFill>
          <a:blip r:embed="rId2"/>
          <a:stretch>
            <a:fillRect/>
          </a:stretch>
        </p:blipFill>
        <p:spPr>
          <a:xfrm>
            <a:off x="576775" y="1941163"/>
            <a:ext cx="5118100" cy="2730500"/>
          </a:xfrm>
          <a:prstGeom prst="rect">
            <a:avLst/>
          </a:prstGeom>
        </p:spPr>
      </p:pic>
      <p:pic>
        <p:nvPicPr>
          <p:cNvPr id="7" name="Picture 6">
            <a:extLst>
              <a:ext uri="{FF2B5EF4-FFF2-40B4-BE49-F238E27FC236}">
                <a16:creationId xmlns:a16="http://schemas.microsoft.com/office/drawing/2014/main" id="{D3103862-36FE-8047-8EA4-1AA5D8ACD88B}"/>
              </a:ext>
            </a:extLst>
          </p:cNvPr>
          <p:cNvPicPr>
            <a:picLocks noChangeAspect="1"/>
          </p:cNvPicPr>
          <p:nvPr/>
        </p:nvPicPr>
        <p:blipFill>
          <a:blip r:embed="rId3"/>
          <a:stretch>
            <a:fillRect/>
          </a:stretch>
        </p:blipFill>
        <p:spPr>
          <a:xfrm>
            <a:off x="5921106" y="1662784"/>
            <a:ext cx="5983680" cy="4310144"/>
          </a:xfrm>
          <a:prstGeom prst="rect">
            <a:avLst/>
          </a:prstGeom>
        </p:spPr>
      </p:pic>
      <p:sp>
        <p:nvSpPr>
          <p:cNvPr id="8" name="Title 7">
            <a:extLst>
              <a:ext uri="{FF2B5EF4-FFF2-40B4-BE49-F238E27FC236}">
                <a16:creationId xmlns:a16="http://schemas.microsoft.com/office/drawing/2014/main" id="{A6AA93B4-C747-7948-97FD-A3EA16078F9E}"/>
              </a:ext>
            </a:extLst>
          </p:cNvPr>
          <p:cNvSpPr>
            <a:spLocks noGrp="1"/>
          </p:cNvSpPr>
          <p:nvPr>
            <p:ph type="title"/>
          </p:nvPr>
        </p:nvSpPr>
        <p:spPr/>
        <p:txBody>
          <a:bodyPr/>
          <a:lstStyle/>
          <a:p>
            <a:r>
              <a:rPr lang="en-US" dirty="0"/>
              <a:t>Educating Data Scientists</a:t>
            </a:r>
          </a:p>
        </p:txBody>
      </p:sp>
      <p:sp>
        <p:nvSpPr>
          <p:cNvPr id="2" name="Rectangle 1">
            <a:extLst>
              <a:ext uri="{FF2B5EF4-FFF2-40B4-BE49-F238E27FC236}">
                <a16:creationId xmlns:a16="http://schemas.microsoft.com/office/drawing/2014/main" id="{9B9762C7-6585-6F2B-F8FE-F590612E7BEC}"/>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C8EBE362-336E-D498-FEAE-7B1D1BA009B1}"/>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11773586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6AA93B4-C747-7948-97FD-A3EA16078F9E}"/>
              </a:ext>
            </a:extLst>
          </p:cNvPr>
          <p:cNvSpPr>
            <a:spLocks noGrp="1"/>
          </p:cNvSpPr>
          <p:nvPr>
            <p:ph type="title"/>
          </p:nvPr>
        </p:nvSpPr>
        <p:spPr/>
        <p:txBody>
          <a:bodyPr/>
          <a:lstStyle/>
          <a:p>
            <a:r>
              <a:rPr lang="en-US" dirty="0"/>
              <a:t>Educating Data Scientists</a:t>
            </a:r>
          </a:p>
        </p:txBody>
      </p:sp>
      <p:sp>
        <p:nvSpPr>
          <p:cNvPr id="2" name="Rectangle 1">
            <a:extLst>
              <a:ext uri="{FF2B5EF4-FFF2-40B4-BE49-F238E27FC236}">
                <a16:creationId xmlns:a16="http://schemas.microsoft.com/office/drawing/2014/main" id="{9B9762C7-6585-6F2B-F8FE-F590612E7BEC}"/>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C8EBE362-336E-D498-FEAE-7B1D1BA009B1}"/>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pic>
        <p:nvPicPr>
          <p:cNvPr id="4" name="Picture 3">
            <a:extLst>
              <a:ext uri="{FF2B5EF4-FFF2-40B4-BE49-F238E27FC236}">
                <a16:creationId xmlns:a16="http://schemas.microsoft.com/office/drawing/2014/main" id="{06F80046-2206-451C-600C-BFBAEF727939}"/>
              </a:ext>
            </a:extLst>
          </p:cNvPr>
          <p:cNvPicPr>
            <a:picLocks noChangeAspect="1"/>
          </p:cNvPicPr>
          <p:nvPr/>
        </p:nvPicPr>
        <p:blipFill>
          <a:blip r:embed="rId2"/>
          <a:stretch>
            <a:fillRect/>
          </a:stretch>
        </p:blipFill>
        <p:spPr>
          <a:xfrm>
            <a:off x="1286651" y="1371600"/>
            <a:ext cx="9618697" cy="4701515"/>
          </a:xfrm>
          <a:prstGeom prst="rect">
            <a:avLst/>
          </a:prstGeom>
        </p:spPr>
      </p:pic>
    </p:spTree>
    <p:extLst>
      <p:ext uri="{BB962C8B-B14F-4D97-AF65-F5344CB8AC3E}">
        <p14:creationId xmlns:p14="http://schemas.microsoft.com/office/powerpoint/2010/main" val="27817578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AB46A-9C75-519E-680A-30A7D22A896E}"/>
              </a:ext>
            </a:extLst>
          </p:cNvPr>
          <p:cNvSpPr>
            <a:spLocks noGrp="1"/>
          </p:cNvSpPr>
          <p:nvPr>
            <p:ph type="title"/>
          </p:nvPr>
        </p:nvSpPr>
        <p:spPr/>
        <p:txBody>
          <a:bodyPr/>
          <a:lstStyle/>
          <a:p>
            <a:r>
              <a:rPr lang="en-US" dirty="0"/>
              <a:t>Final Thoughts</a:t>
            </a:r>
          </a:p>
        </p:txBody>
      </p:sp>
      <p:sp>
        <p:nvSpPr>
          <p:cNvPr id="3" name="Content Placeholder 2">
            <a:extLst>
              <a:ext uri="{FF2B5EF4-FFF2-40B4-BE49-F238E27FC236}">
                <a16:creationId xmlns:a16="http://schemas.microsoft.com/office/drawing/2014/main" id="{9F16F208-5DCB-144B-B00A-90C2D9BE38E8}"/>
              </a:ext>
            </a:extLst>
          </p:cNvPr>
          <p:cNvSpPr>
            <a:spLocks noGrp="1"/>
          </p:cNvSpPr>
          <p:nvPr>
            <p:ph idx="1"/>
          </p:nvPr>
        </p:nvSpPr>
        <p:spPr/>
        <p:txBody>
          <a:bodyPr>
            <a:normAutofit/>
          </a:bodyPr>
          <a:lstStyle/>
          <a:p>
            <a:pPr indent="-355600">
              <a:lnSpc>
                <a:spcPct val="115000"/>
              </a:lnSpc>
              <a:spcBef>
                <a:spcPts val="0"/>
              </a:spcBef>
              <a:buClr>
                <a:srgbClr val="000000"/>
              </a:buClr>
              <a:buSzPts val="2000"/>
              <a:buChar char="●"/>
            </a:pPr>
            <a:r>
              <a:rPr lang="en-US" sz="2800" dirty="0">
                <a:solidFill>
                  <a:srgbClr val="000000"/>
                </a:solidFill>
                <a:latin typeface="Helvetica Neue"/>
                <a:ea typeface="Helvetica Neue"/>
                <a:cs typeface="Helvetica Neue"/>
                <a:sym typeface="Helvetica Neue"/>
              </a:rPr>
              <a:t>In data science, It’s just as important to think about wh</a:t>
            </a:r>
            <a:r>
              <a:rPr lang="en-US" sz="2800" dirty="0">
                <a:solidFill>
                  <a:srgbClr val="000000"/>
                </a:solidFill>
              </a:rPr>
              <a:t>y</a:t>
            </a:r>
            <a:r>
              <a:rPr lang="en-US" sz="2800" dirty="0">
                <a:solidFill>
                  <a:srgbClr val="000000"/>
                </a:solidFill>
                <a:latin typeface="Helvetica Neue"/>
                <a:ea typeface="Helvetica Neue"/>
                <a:cs typeface="Helvetica Neue"/>
                <a:sym typeface="Helvetica Neue"/>
              </a:rPr>
              <a:t> you are solving or should you solve that ”problem” as </a:t>
            </a:r>
            <a:r>
              <a:rPr lang="en-US" sz="2800" i="1" dirty="0">
                <a:solidFill>
                  <a:srgbClr val="000000"/>
                </a:solidFill>
                <a:latin typeface="Helvetica Neue"/>
                <a:ea typeface="Helvetica Neue"/>
                <a:cs typeface="Helvetica Neue"/>
                <a:sym typeface="Helvetica Neue"/>
              </a:rPr>
              <a:t>how</a:t>
            </a:r>
            <a:r>
              <a:rPr lang="en-US" sz="2800" dirty="0">
                <a:solidFill>
                  <a:srgbClr val="000000"/>
                </a:solidFill>
                <a:latin typeface="Helvetica Neue"/>
                <a:ea typeface="Helvetica Neue"/>
                <a:cs typeface="Helvetica Neue"/>
                <a:sym typeface="Helvetica Neue"/>
              </a:rPr>
              <a:t> to solve it.</a:t>
            </a:r>
            <a:endParaRPr lang="en-US" sz="2800" dirty="0"/>
          </a:p>
          <a:p>
            <a:pPr indent="-355600">
              <a:lnSpc>
                <a:spcPct val="115000"/>
              </a:lnSpc>
              <a:spcBef>
                <a:spcPts val="0"/>
              </a:spcBef>
              <a:buClr>
                <a:srgbClr val="000000"/>
              </a:buClr>
              <a:buSzPts val="2000"/>
              <a:buFont typeface="Helvetica Neue"/>
              <a:buChar char="●"/>
            </a:pPr>
            <a:r>
              <a:rPr lang="en-US" sz="2800" dirty="0">
                <a:solidFill>
                  <a:srgbClr val="000000"/>
                </a:solidFill>
                <a:latin typeface="Helvetica Neue"/>
                <a:ea typeface="Helvetica Neue"/>
                <a:cs typeface="Helvetica Neue"/>
                <a:sym typeface="Helvetica Neue"/>
              </a:rPr>
              <a:t>We need to grapple with the ethical challenges and develop rigorous and guiding ethical frameworks for this constantly evolving field</a:t>
            </a:r>
            <a:endParaRPr lang="en-US" sz="2800" dirty="0"/>
          </a:p>
          <a:p>
            <a:pPr indent="-355600">
              <a:lnSpc>
                <a:spcPct val="115000"/>
              </a:lnSpc>
              <a:spcBef>
                <a:spcPts val="0"/>
              </a:spcBef>
              <a:buClr>
                <a:srgbClr val="000000"/>
              </a:buClr>
              <a:buSzPts val="2000"/>
              <a:buFont typeface="Helvetica Neue"/>
              <a:buChar char="●"/>
            </a:pPr>
            <a:r>
              <a:rPr lang="en-US" sz="2800" dirty="0">
                <a:solidFill>
                  <a:srgbClr val="000000"/>
                </a:solidFill>
                <a:latin typeface="Helvetica Neue"/>
                <a:ea typeface="Helvetica Neue"/>
                <a:cs typeface="Helvetica Neue"/>
                <a:sym typeface="Helvetica Neue"/>
              </a:rPr>
              <a:t>Good (or great!) and important work can and should be done and YOU will do it!!</a:t>
            </a:r>
            <a:endParaRPr lang="en-US" sz="2800" dirty="0">
              <a:solidFill>
                <a:srgbClr val="000000"/>
              </a:solidFill>
            </a:endParaRPr>
          </a:p>
        </p:txBody>
      </p:sp>
      <p:sp>
        <p:nvSpPr>
          <p:cNvPr id="4" name="Rectangle 3">
            <a:extLst>
              <a:ext uri="{FF2B5EF4-FFF2-40B4-BE49-F238E27FC236}">
                <a16:creationId xmlns:a16="http://schemas.microsoft.com/office/drawing/2014/main" id="{BFFC4E38-D718-183B-83FC-EBD901028BEE}"/>
              </a:ext>
            </a:extLst>
          </p:cNvPr>
          <p:cNvSpPr/>
          <p:nvPr/>
        </p:nvSpPr>
        <p:spPr>
          <a:xfrm>
            <a:off x="-117567" y="6349591"/>
            <a:ext cx="12422777" cy="639037"/>
          </a:xfrm>
          <a:prstGeom prst="rect">
            <a:avLst/>
          </a:prstGeom>
          <a:solidFill>
            <a:srgbClr val="9411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extBox 4">
            <a:extLst>
              <a:ext uri="{FF2B5EF4-FFF2-40B4-BE49-F238E27FC236}">
                <a16:creationId xmlns:a16="http://schemas.microsoft.com/office/drawing/2014/main" id="{F4BFF4F9-E82E-9D5D-4C8F-3945AA093B2D}"/>
              </a:ext>
            </a:extLst>
          </p:cNvPr>
          <p:cNvSpPr txBox="1"/>
          <p:nvPr/>
        </p:nvSpPr>
        <p:spPr>
          <a:xfrm>
            <a:off x="5535014" y="6488668"/>
            <a:ext cx="1130438" cy="369332"/>
          </a:xfrm>
          <a:prstGeom prst="rect">
            <a:avLst/>
          </a:prstGeom>
          <a:noFill/>
        </p:spPr>
        <p:txBody>
          <a:bodyPr wrap="none" rtlCol="0">
            <a:spAutoFit/>
          </a:bodyPr>
          <a:lstStyle/>
          <a:p>
            <a:r>
              <a:rPr lang="en-US" b="1" dirty="0">
                <a:solidFill>
                  <a:schemeClr val="bg1"/>
                </a:solidFill>
              </a:rPr>
              <a:t>DSSI 2024</a:t>
            </a:r>
          </a:p>
        </p:txBody>
      </p:sp>
    </p:spTree>
    <p:extLst>
      <p:ext uri="{BB962C8B-B14F-4D97-AF65-F5344CB8AC3E}">
        <p14:creationId xmlns:p14="http://schemas.microsoft.com/office/powerpoint/2010/main" val="2588882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2481</TotalTime>
  <Words>1736</Words>
  <Application>Microsoft Macintosh PowerPoint</Application>
  <PresentationFormat>Widescreen</PresentationFormat>
  <Paragraphs>209</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Helvetica Neue</vt:lpstr>
      <vt:lpstr>Office Theme</vt:lpstr>
      <vt:lpstr>Data Ethics and Society</vt:lpstr>
      <vt:lpstr>Why do ethical issues arise in Data Science?</vt:lpstr>
      <vt:lpstr>What ethical issues have you heard about - from where?</vt:lpstr>
      <vt:lpstr>PowerPoint Presentation</vt:lpstr>
      <vt:lpstr>When in the Data Scientific process do we have to worry about ethical issues arising?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Science is increasingly used to feed ML/AI</vt:lpstr>
      <vt:lpstr>In the real world, who chooses how the data is labeled?</vt:lpstr>
      <vt:lpstr>How do we know what the “right” decisions are?</vt:lpstr>
      <vt:lpstr>Some relevant regulations</vt:lpstr>
      <vt:lpstr>Belmont Principles (1979)</vt:lpstr>
      <vt:lpstr>GDPR - General Data Protection Regulation</vt:lpstr>
      <vt:lpstr>It isn’t always cut-and-dry…</vt:lpstr>
      <vt:lpstr>The Right to be Forgotten</vt:lpstr>
      <vt:lpstr>(de-)Anonymization or (re-)Identification)</vt:lpstr>
      <vt:lpstr>Another real-world example</vt:lpstr>
      <vt:lpstr>Algorithms and Models</vt:lpstr>
      <vt:lpstr>Case Study – Justice Systems &amp; Algorithms</vt:lpstr>
      <vt:lpstr>COMPAS Recidivism Prediction</vt:lpstr>
      <vt:lpstr>COMPAS Recidivism Prediction</vt:lpstr>
      <vt:lpstr>COMPAS Recidivism Prediction</vt:lpstr>
      <vt:lpstr>Case Study – Target predictive analytics</vt:lpstr>
      <vt:lpstr>Trustworthiness and Accountability </vt:lpstr>
      <vt:lpstr>Trustworthiness and Accountability </vt:lpstr>
      <vt:lpstr>Race in medicine</vt:lpstr>
      <vt:lpstr>Sex in medicine</vt:lpstr>
      <vt:lpstr>Not straightforward</vt:lpstr>
      <vt:lpstr>What to do about it?</vt:lpstr>
      <vt:lpstr>Research</vt:lpstr>
      <vt:lpstr>Outreach</vt:lpstr>
      <vt:lpstr>Educating Data Scientists</vt:lpstr>
      <vt:lpstr>Educating Data Scientists</vt:lpstr>
      <vt:lpstr>Final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Ethics and Society</dc:title>
  <dc:creator>Kube, Amanda</dc:creator>
  <cp:lastModifiedBy>Amanda Kube</cp:lastModifiedBy>
  <cp:revision>6</cp:revision>
  <dcterms:created xsi:type="dcterms:W3CDTF">2023-03-01T01:47:05Z</dcterms:created>
  <dcterms:modified xsi:type="dcterms:W3CDTF">2024-06-06T16:55:22Z</dcterms:modified>
</cp:coreProperties>
</file>